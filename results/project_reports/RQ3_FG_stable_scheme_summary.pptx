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focus on the third research question. I will briefly show how I rebuilt the functional group scheme, what I corrected in the plotting workflow, and what the final interaction patterns look like. The key message is that the revised FG scheme is more stable, more interpretable, and presentation-ready.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the results, I want to be explicit that these are not just cosmetic updates. I revised the FG construction, corrected the source of jagged prediction bands, and fixed the panel mapping for the land-use-by-FG figure. So what follows is the cleaned and internally consistent version of the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logic as a pipeline. I started from species-level traits, built a robust multivariate trait space, screened multiple clustering candidates, and kept only schemes that were both interpretable and stable. Then I linked the final FG back to occurrence records and used the same FG definition consistently across all interaction plots.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explains why I chose the final FG definition. I did not pick the grouping only because it looked good visually. Instead, I screened multiple methods and K values, and the three-group kmeans solution offered the best compromise between stability, balance, and interpretability.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important point is separation, not just clustering. The selected groups occupy distinct regions of trait space and align with meaningful loading directions. That gives us confidence that the FG scheme is not only statistically stable, but also biologically interpretable.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slide for naming the FG. FG1 behaves like a slow-history and high-dispersal strategy, FG2 looks like a broad-niche and higher-fecundity strategy, and FG3 is the comparatively restricted specialist group. These labels are grounded in the trait profiles rather than assigned post 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this slide as a compact summary of the trait syndromes. Compared with the bar chart, the heatmap is better for quickly seeing contrast among groups across all traits at once. It reinforces that the three-group solution is both structured and ecologically coherent.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biological result. The response to warming depends both on land-use context and on the functional strategy of the species group. So the third scientific question is answered positively: trait-based strategies do modulate the land-use-by-warming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usually show this figure right after the absolute scale because it helps compare sensitivity more directly. The baseline is fixed, so differences in curvature and effect size become easier to communicate. It is especially useful when discussing which strategy groups are most responsive under intensified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marginal summary derived from the same three-way model. Even when I average over the FG structure, land use still matters strongly. So the land-use signal is not only a byproduct of group composition; it persists as a broader ecological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panel complements the previous one. Here I average over land-use composition and ask whether the FG definition still matters. The answer is yes, which strengthens the argument that the FG scheme is not only statistically tidy but biologically meaningful.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was important to fix. The corrected version now compares FG within the same temperature panel, which is what we actually need for interpretation. It shows more clearly that the relative ordering of the groups depends on land use and shifts as warming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would emphasise three things. First, the FG definition is now stable and interpretable. Second, the ecological labels are supported by the trait data. Third, the interaction results consistently show that warming responses depend on both land use and functional strategy. That is the main contribution of this revised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18288" y="27432"/>
            <a:ext cx="2331720" cy="640080"/>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2011680" cy="548640"/>
          </a:xfrm>
          <a:prstGeom prst="rect">
            <a:avLst/>
          </a:prstGeom>
        </p:spPr>
      </p:pic>
      <p:sp>
        <p:nvSpPr>
          <p:cNvPr id="4" name="Shape 0"/>
          <p:cNvSpPr/>
          <p:nvPr/>
        </p:nvSpPr>
        <p:spPr>
          <a:xfrm>
            <a:off x="0" y="1709928"/>
            <a:ext cx="12191695" cy="2029968"/>
          </a:xfrm>
          <a:prstGeom prst="rect">
            <a:avLst/>
          </a:prstGeom>
          <a:solidFill>
            <a:srgbClr val="D8F1EA"/>
          </a:solidFill>
          <a:ln w="12700">
            <a:solidFill>
              <a:srgbClr val="D8F1EA">
                <a:alpha val="0"/>
              </a:srgbClr>
            </a:solidFill>
            <a:prstDash val="solid"/>
          </a:ln>
        </p:spPr>
      </p:sp>
      <p:sp>
        <p:nvSpPr>
          <p:cNvPr id="5" name="Text 1"/>
          <p:cNvSpPr/>
          <p:nvPr/>
        </p:nvSpPr>
        <p:spPr>
          <a:xfrm>
            <a:off x="621792" y="2724912"/>
            <a:ext cx="10972800" cy="457200"/>
          </a:xfrm>
          <a:prstGeom prst="rect">
            <a:avLst/>
          </a:prstGeom>
          <a:noFill/>
          <a:ln/>
        </p:spPr>
        <p:txBody>
          <a:bodyPr wrap="square" lIns="0" tIns="0" rIns="0" bIns="0" rtlCol="0" anchor="ctr"/>
          <a:lstStyle/>
          <a:p>
            <a:pPr algn="ctr" indent="0" marL="0">
              <a:buNone/>
            </a:pPr>
            <a:r>
              <a:rPr lang="en-US" sz="2800" dirty="0">
                <a:solidFill>
                  <a:srgbClr val="2D2D2D"/>
                </a:solidFill>
                <a:latin typeface="Aptos Display" pitchFamily="34" charset="0"/>
                <a:ea typeface="Aptos Display" pitchFamily="34" charset="-122"/>
                <a:cs typeface="Aptos Display" pitchFamily="34" charset="-120"/>
              </a:rPr>
              <a:t>Stable Functional Group Scheme for RQ3</a:t>
            </a:r>
            <a:endParaRPr lang="en-US" sz="2800" dirty="0"/>
          </a:p>
        </p:txBody>
      </p:sp>
      <p:sp>
        <p:nvSpPr>
          <p:cNvPr id="6" name="Text 2"/>
          <p:cNvSpPr/>
          <p:nvPr/>
        </p:nvSpPr>
        <p:spPr>
          <a:xfrm>
            <a:off x="1097280" y="4498848"/>
            <a:ext cx="9966960" cy="256032"/>
          </a:xfrm>
          <a:prstGeom prst="rect">
            <a:avLst/>
          </a:prstGeom>
          <a:noFill/>
          <a:ln/>
        </p:spPr>
        <p:txBody>
          <a:bodyPr wrap="square" lIns="0" tIns="0" rIns="0" bIns="0" rtlCol="0" anchor="ctr"/>
          <a:lstStyle/>
          <a:p>
            <a:pPr algn="ctr" indent="0" marL="0">
              <a:buNone/>
            </a:pPr>
            <a:r>
              <a:rPr lang="en-US" sz="1400" dirty="0">
                <a:solidFill>
                  <a:srgbClr val="2D2D2D"/>
                </a:solidFill>
              </a:rPr>
              <a:t>Systematic diagnosis, revised figures, and presentation-ready summary</a:t>
            </a:r>
            <a:endParaRPr lang="en-US" sz="1400" dirty="0"/>
          </a:p>
        </p:txBody>
      </p:sp>
      <p:sp>
        <p:nvSpPr>
          <p:cNvPr id="7" name="Text 3"/>
          <p:cNvSpPr/>
          <p:nvPr/>
        </p:nvSpPr>
        <p:spPr>
          <a:xfrm>
            <a:off x="1417320" y="5074920"/>
            <a:ext cx="9235440" cy="237744"/>
          </a:xfrm>
          <a:prstGeom prst="rect">
            <a:avLst/>
          </a:prstGeom>
          <a:noFill/>
          <a:ln/>
        </p:spPr>
        <p:txBody>
          <a:bodyPr wrap="square" lIns="0" tIns="0" rIns="0" bIns="0" rtlCol="0" anchor="ctr"/>
          <a:lstStyle/>
          <a:p>
            <a:pPr algn="ctr" indent="0" marL="0">
              <a:buNone/>
            </a:pPr>
            <a:r>
              <a:rPr lang="en-US" sz="1600" dirty="0">
                <a:solidFill>
                  <a:srgbClr val="2D2D2D"/>
                </a:solidFill>
              </a:rPr>
              <a:t>Chenchen Ding | PKU-IIASA Joint Postdoc</a:t>
            </a:r>
            <a:endParaRPr lang="en-US" sz="1600" dirty="0"/>
          </a:p>
        </p:txBody>
      </p:sp>
      <p:sp>
        <p:nvSpPr>
          <p:cNvPr id="8" name="Text 4"/>
          <p:cNvSpPr/>
          <p:nvPr/>
        </p:nvSpPr>
        <p:spPr>
          <a:xfrm>
            <a:off x="4480560" y="5550408"/>
            <a:ext cx="3200400" cy="201168"/>
          </a:xfrm>
          <a:prstGeom prst="rect">
            <a:avLst/>
          </a:prstGeom>
          <a:noFill/>
          <a:ln/>
        </p:spPr>
        <p:txBody>
          <a:bodyPr wrap="square" lIns="0" tIns="0" rIns="0" bIns="0" rtlCol="0" anchor="ctr"/>
          <a:lstStyle/>
          <a:p>
            <a:pPr algn="ctr" indent="0" marL="0">
              <a:buNone/>
            </a:pPr>
            <a:r>
              <a:rPr lang="en-US" sz="1200" dirty="0">
                <a:solidFill>
                  <a:srgbClr val="6A6A6A"/>
                </a:solidFill>
              </a:rPr>
              <a:t>March 2026</a:t>
            </a:r>
            <a:endParaRPr lang="en-US" sz="1200" dirty="0"/>
          </a:p>
        </p:txBody>
      </p:sp>
      <p:sp>
        <p:nvSpPr>
          <p:cNvPr id="10" name="Text 5"/>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What Was Revised Before Summarising Results</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A short diagnosis-to-fix workflow for the third scientific question.</a:t>
            </a:r>
            <a:endParaRPr lang="en-US" sz="900" dirty="0"/>
          </a:p>
        </p:txBody>
      </p:sp>
      <p:sp>
        <p:nvSpPr>
          <p:cNvPr id="7" name="Shape 3"/>
          <p:cNvSpPr/>
          <p:nvPr/>
        </p:nvSpPr>
        <p:spPr>
          <a:xfrm>
            <a:off x="502920" y="2011680"/>
            <a:ext cx="3154680" cy="2331720"/>
          </a:xfrm>
          <a:prstGeom prst="roundRect">
            <a:avLst>
              <a:gd name="adj" fmla="val 3137"/>
            </a:avLst>
          </a:prstGeom>
          <a:solidFill>
            <a:srgbClr val="EAF7F3"/>
          </a:solidFill>
          <a:ln w="12700">
            <a:solidFill>
              <a:srgbClr val="D8D8D8"/>
            </a:solidFill>
            <a:prstDash val="solid"/>
          </a:ln>
        </p:spPr>
      </p:sp>
      <p:sp>
        <p:nvSpPr>
          <p:cNvPr id="8" name="Text 4"/>
          <p:cNvSpPr/>
          <p:nvPr/>
        </p:nvSpPr>
        <p:spPr>
          <a:xfrm>
            <a:off x="685800" y="2176272"/>
            <a:ext cx="2743200" cy="201168"/>
          </a:xfrm>
          <a:prstGeom prst="rect">
            <a:avLst/>
          </a:prstGeom>
          <a:noFill/>
          <a:ln/>
        </p:spPr>
        <p:txBody>
          <a:bodyPr wrap="square" lIns="0" tIns="0" rIns="0" bIns="0" rtlCol="0" anchor="ctr"/>
          <a:lstStyle/>
          <a:p>
            <a:pPr indent="0" marL="0">
              <a:buNone/>
            </a:pPr>
            <a:r>
              <a:rPr lang="en-US" sz="1400" b="1" dirty="0">
                <a:solidFill>
                  <a:srgbClr val="2D2D2D"/>
                </a:solidFill>
              </a:rPr>
              <a:t>FG construction</a:t>
            </a:r>
            <a:endParaRPr lang="en-US" sz="1400" dirty="0"/>
          </a:p>
        </p:txBody>
      </p:sp>
      <p:sp>
        <p:nvSpPr>
          <p:cNvPr id="9" name="Text 5"/>
          <p:cNvSpPr/>
          <p:nvPr/>
        </p:nvSpPr>
        <p:spPr>
          <a:xfrm>
            <a:off x="685800" y="2542032"/>
            <a:ext cx="2788920" cy="1463040"/>
          </a:xfrm>
          <a:prstGeom prst="rect">
            <a:avLst/>
          </a:prstGeom>
          <a:noFill/>
          <a:ln/>
        </p:spPr>
        <p:txBody>
          <a:bodyPr wrap="square" lIns="0" tIns="0" rIns="0" bIns="0" rtlCol="0" anchor="t"/>
          <a:lstStyle/>
          <a:p>
            <a:pPr indent="0" marL="0">
              <a:buNone/>
            </a:pPr>
            <a:r>
              <a:rPr lang="en-US" sz="1000" dirty="0">
                <a:solidFill>
                  <a:srgbClr val="2D2D2D"/>
                </a:solidFill>
              </a:rPr>
              <a:t>Replaced unstable raw-similarity grouping with a robust PCA-based clustering workflow using transformed traits, minimum group-size control, and bootstrap Jaccard stability.</a:t>
            </a:r>
            <a:endParaRPr lang="en-US" sz="1000" dirty="0"/>
          </a:p>
        </p:txBody>
      </p:sp>
      <p:sp>
        <p:nvSpPr>
          <p:cNvPr id="10" name="Shape 6"/>
          <p:cNvSpPr/>
          <p:nvPr/>
        </p:nvSpPr>
        <p:spPr>
          <a:xfrm>
            <a:off x="4069080" y="2011680"/>
            <a:ext cx="3154680" cy="2331720"/>
          </a:xfrm>
          <a:prstGeom prst="roundRect">
            <a:avLst>
              <a:gd name="adj" fmla="val 3137"/>
            </a:avLst>
          </a:prstGeom>
          <a:solidFill>
            <a:srgbClr val="EEF4FB"/>
          </a:solidFill>
          <a:ln w="12700">
            <a:solidFill>
              <a:srgbClr val="D8D8D8"/>
            </a:solidFill>
            <a:prstDash val="solid"/>
          </a:ln>
        </p:spPr>
      </p:sp>
      <p:sp>
        <p:nvSpPr>
          <p:cNvPr id="11" name="Text 7"/>
          <p:cNvSpPr/>
          <p:nvPr/>
        </p:nvSpPr>
        <p:spPr>
          <a:xfrm>
            <a:off x="4251960" y="2176272"/>
            <a:ext cx="2743200" cy="201168"/>
          </a:xfrm>
          <a:prstGeom prst="rect">
            <a:avLst/>
          </a:prstGeom>
          <a:noFill/>
          <a:ln/>
        </p:spPr>
        <p:txBody>
          <a:bodyPr wrap="square" lIns="0" tIns="0" rIns="0" bIns="0" rtlCol="0" anchor="ctr"/>
          <a:lstStyle/>
          <a:p>
            <a:pPr indent="0" marL="0">
              <a:buNone/>
            </a:pPr>
            <a:r>
              <a:rPr lang="en-US" sz="1400" b="1" dirty="0">
                <a:solidFill>
                  <a:srgbClr val="2D2D2D"/>
                </a:solidFill>
              </a:rPr>
              <a:t>Prediction figures</a:t>
            </a:r>
            <a:endParaRPr lang="en-US" sz="1400" dirty="0"/>
          </a:p>
        </p:txBody>
      </p:sp>
      <p:sp>
        <p:nvSpPr>
          <p:cNvPr id="12" name="Text 8"/>
          <p:cNvSpPr/>
          <p:nvPr/>
        </p:nvSpPr>
        <p:spPr>
          <a:xfrm>
            <a:off x="4251960" y="2542032"/>
            <a:ext cx="2788920" cy="1463040"/>
          </a:xfrm>
          <a:prstGeom prst="rect">
            <a:avLst/>
          </a:prstGeom>
          <a:noFill/>
          <a:ln/>
        </p:spPr>
        <p:txBody>
          <a:bodyPr wrap="square" lIns="0" tIns="0" rIns="0" bIns="0" rtlCol="0" anchor="t"/>
          <a:lstStyle/>
          <a:p>
            <a:pPr indent="0" marL="0">
              <a:buNone/>
            </a:pPr>
            <a:r>
              <a:rPr lang="en-US" sz="1000" dirty="0">
                <a:solidFill>
                  <a:srgbClr val="2D2D2D"/>
                </a:solidFill>
              </a:rPr>
              <a:t>Removed jagged prediction curves by switching from pointwise random perturbation to joint fixed-effect draws from the model covariance matrix, yielding smoother and more coherent uncertainty bands.</a:t>
            </a:r>
            <a:endParaRPr lang="en-US" sz="1000" dirty="0"/>
          </a:p>
        </p:txBody>
      </p:sp>
      <p:sp>
        <p:nvSpPr>
          <p:cNvPr id="13" name="Shape 9"/>
          <p:cNvSpPr/>
          <p:nvPr/>
        </p:nvSpPr>
        <p:spPr>
          <a:xfrm>
            <a:off x="7635240" y="2011680"/>
            <a:ext cx="3154680" cy="2331720"/>
          </a:xfrm>
          <a:prstGeom prst="roundRect">
            <a:avLst>
              <a:gd name="adj" fmla="val 3137"/>
            </a:avLst>
          </a:prstGeom>
          <a:solidFill>
            <a:srgbClr val="FFF4E8"/>
          </a:solidFill>
          <a:ln w="12700">
            <a:solidFill>
              <a:srgbClr val="D8D8D8"/>
            </a:solidFill>
            <a:prstDash val="solid"/>
          </a:ln>
        </p:spPr>
      </p:sp>
      <p:sp>
        <p:nvSpPr>
          <p:cNvPr id="14" name="Text 10"/>
          <p:cNvSpPr/>
          <p:nvPr/>
        </p:nvSpPr>
        <p:spPr>
          <a:xfrm>
            <a:off x="7818120" y="2176272"/>
            <a:ext cx="2743200" cy="201168"/>
          </a:xfrm>
          <a:prstGeom prst="rect">
            <a:avLst/>
          </a:prstGeom>
          <a:noFill/>
          <a:ln/>
        </p:spPr>
        <p:txBody>
          <a:bodyPr wrap="square" lIns="0" tIns="0" rIns="0" bIns="0" rtlCol="0" anchor="ctr"/>
          <a:lstStyle/>
          <a:p>
            <a:pPr indent="0" marL="0">
              <a:buNone/>
            </a:pPr>
            <a:r>
              <a:rPr lang="en-US" sz="1400" b="1" dirty="0">
                <a:solidFill>
                  <a:srgbClr val="2D2D2D"/>
                </a:solidFill>
              </a:rPr>
              <a:t>Two-way comparison</a:t>
            </a:r>
            <a:endParaRPr lang="en-US" sz="1400" dirty="0"/>
          </a:p>
        </p:txBody>
      </p:sp>
      <p:sp>
        <p:nvSpPr>
          <p:cNvPr id="15" name="Text 11"/>
          <p:cNvSpPr/>
          <p:nvPr/>
        </p:nvSpPr>
        <p:spPr>
          <a:xfrm>
            <a:off x="7818120" y="2542032"/>
            <a:ext cx="2788920" cy="1463040"/>
          </a:xfrm>
          <a:prstGeom prst="rect">
            <a:avLst/>
          </a:prstGeom>
          <a:noFill/>
          <a:ln/>
        </p:spPr>
        <p:txBody>
          <a:bodyPr wrap="square" lIns="0" tIns="0" rIns="0" bIns="0" rtlCol="0" anchor="t"/>
          <a:lstStyle/>
          <a:p>
            <a:pPr indent="0" marL="0">
              <a:buNone/>
            </a:pPr>
            <a:r>
              <a:rPr lang="en-US" sz="1000" dirty="0">
                <a:solidFill>
                  <a:srgbClr val="2D2D2D"/>
                </a:solidFill>
              </a:rPr>
              <a:t>Corrected the fixed-temperature panel mapping so each panel now compares FG1, FG2, and FG3 within the same temperature condition across land-use types.</a:t>
            </a:r>
            <a:endParaRPr lang="en-US" sz="1000" dirty="0"/>
          </a:p>
        </p:txBody>
      </p:sp>
      <p:sp>
        <p:nvSpPr>
          <p:cNvPr id="16" name="Shape 12"/>
          <p:cNvSpPr/>
          <p:nvPr/>
        </p:nvSpPr>
        <p:spPr>
          <a:xfrm>
            <a:off x="731520" y="4480560"/>
            <a:ext cx="10744200" cy="1325880"/>
          </a:xfrm>
          <a:prstGeom prst="roundRect">
            <a:avLst>
              <a:gd name="adj" fmla="val 5517"/>
            </a:avLst>
          </a:prstGeom>
          <a:solidFill>
            <a:srgbClr val="F8FBFA"/>
          </a:solidFill>
          <a:ln w="12700">
            <a:solidFill>
              <a:srgbClr val="CFE3DD"/>
            </a:solidFill>
            <a:prstDash val="solid"/>
          </a:ln>
        </p:spPr>
      </p:sp>
      <p:sp>
        <p:nvSpPr>
          <p:cNvPr id="17" name="Shape 13"/>
          <p:cNvSpPr/>
          <p:nvPr/>
        </p:nvSpPr>
        <p:spPr>
          <a:xfrm>
            <a:off x="731520" y="4480560"/>
            <a:ext cx="10744200" cy="329184"/>
          </a:xfrm>
          <a:prstGeom prst="rect">
            <a:avLst/>
          </a:prstGeom>
          <a:solidFill>
            <a:srgbClr val="8FD5C3"/>
          </a:solidFill>
          <a:ln w="12700">
            <a:solidFill>
              <a:srgbClr val="8FD5C3">
                <a:alpha val="0"/>
              </a:srgbClr>
            </a:solidFill>
            <a:prstDash val="solid"/>
          </a:ln>
        </p:spPr>
      </p:sp>
      <p:sp>
        <p:nvSpPr>
          <p:cNvPr id="18" name="Text 14"/>
          <p:cNvSpPr/>
          <p:nvPr/>
        </p:nvSpPr>
        <p:spPr>
          <a:xfrm>
            <a:off x="896112" y="4553712"/>
            <a:ext cx="10415016" cy="164592"/>
          </a:xfrm>
          <a:prstGeom prst="rect">
            <a:avLst/>
          </a:prstGeom>
          <a:noFill/>
          <a:ln/>
        </p:spPr>
        <p:txBody>
          <a:bodyPr wrap="square" lIns="0" tIns="0" rIns="0" bIns="0" rtlCol="0" anchor="ctr"/>
          <a:lstStyle/>
          <a:p>
            <a:pPr indent="0" marL="0">
              <a:buNone/>
            </a:pPr>
            <a:r>
              <a:rPr lang="en-US" sz="1100" b="1" dirty="0">
                <a:solidFill>
                  <a:srgbClr val="2D2D2D"/>
                </a:solidFill>
              </a:rPr>
              <a:t>Why this matters</a:t>
            </a:r>
            <a:endParaRPr lang="en-US" sz="1100" dirty="0"/>
          </a:p>
        </p:txBody>
      </p:sp>
      <p:sp>
        <p:nvSpPr>
          <p:cNvPr id="19" name="Shape 15"/>
          <p:cNvSpPr/>
          <p:nvPr/>
        </p:nvSpPr>
        <p:spPr>
          <a:xfrm>
            <a:off x="896112" y="5010912"/>
            <a:ext cx="73152" cy="73152"/>
          </a:xfrm>
          <a:prstGeom prst="ellipse">
            <a:avLst/>
          </a:prstGeom>
          <a:solidFill>
            <a:srgbClr val="8FD5C3"/>
          </a:solidFill>
          <a:ln w="12700">
            <a:solidFill>
              <a:srgbClr val="8FD5C3">
                <a:alpha val="0"/>
              </a:srgbClr>
            </a:solidFill>
            <a:prstDash val="solid"/>
          </a:ln>
        </p:spPr>
      </p:sp>
      <p:sp>
        <p:nvSpPr>
          <p:cNvPr id="20" name="Text 16"/>
          <p:cNvSpPr/>
          <p:nvPr/>
        </p:nvSpPr>
        <p:spPr>
          <a:xfrm>
            <a:off x="1024128" y="4956048"/>
            <a:ext cx="10305288" cy="420624"/>
          </a:xfrm>
          <a:prstGeom prst="rect">
            <a:avLst/>
          </a:prstGeom>
          <a:noFill/>
          <a:ln/>
        </p:spPr>
        <p:txBody>
          <a:bodyPr wrap="square" lIns="0" tIns="0" rIns="0" bIns="0" rtlCol="0" anchor="t"/>
          <a:lstStyle/>
          <a:p>
            <a:pPr indent="0" marL="0">
              <a:buNone/>
            </a:pPr>
            <a:r>
              <a:rPr lang="en-US" sz="920" dirty="0">
                <a:solidFill>
                  <a:srgbClr val="2D2D2D"/>
                </a:solidFill>
              </a:rPr>
              <a:t>The final slides summarise the corrected and presentation-quality version of the analysis, not the earlier unstable or noisy outputs.</a:t>
            </a:r>
            <a:endParaRPr lang="en-US" sz="920" dirty="0"/>
          </a:p>
        </p:txBody>
      </p:sp>
      <p:sp>
        <p:nvSpPr>
          <p:cNvPr id="21" name="Shape 17"/>
          <p:cNvSpPr/>
          <p:nvPr/>
        </p:nvSpPr>
        <p:spPr>
          <a:xfrm>
            <a:off x="896112" y="5513832"/>
            <a:ext cx="73152" cy="73152"/>
          </a:xfrm>
          <a:prstGeom prst="ellipse">
            <a:avLst/>
          </a:prstGeom>
          <a:solidFill>
            <a:srgbClr val="8FD5C3"/>
          </a:solidFill>
          <a:ln w="12700">
            <a:solidFill>
              <a:srgbClr val="8FD5C3">
                <a:alpha val="0"/>
              </a:srgbClr>
            </a:solidFill>
            <a:prstDash val="solid"/>
          </a:ln>
        </p:spPr>
      </p:sp>
      <p:sp>
        <p:nvSpPr>
          <p:cNvPr id="22" name="Text 18"/>
          <p:cNvSpPr/>
          <p:nvPr/>
        </p:nvSpPr>
        <p:spPr>
          <a:xfrm>
            <a:off x="1024128" y="5458968"/>
            <a:ext cx="10305288" cy="420624"/>
          </a:xfrm>
          <a:prstGeom prst="rect">
            <a:avLst/>
          </a:prstGeom>
          <a:noFill/>
          <a:ln/>
        </p:spPr>
        <p:txBody>
          <a:bodyPr wrap="square" lIns="0" tIns="0" rIns="0" bIns="0" rtlCol="0" anchor="t"/>
          <a:lstStyle/>
          <a:p>
            <a:pPr indent="0" marL="0">
              <a:buNone/>
            </a:pPr>
            <a:r>
              <a:rPr lang="en-US" sz="920" dirty="0">
                <a:solidFill>
                  <a:srgbClr val="2D2D2D"/>
                </a:solidFill>
              </a:rPr>
              <a:t>This makes the FG results easier to defend scientifically because the clustering logic, ecological interpretation, and interaction plots now align with each other.</a:t>
            </a:r>
            <a:endParaRPr lang="en-US" sz="920" dirty="0"/>
          </a:p>
        </p:txBody>
      </p:sp>
      <p:sp>
        <p:nvSpPr>
          <p:cNvPr id="24" name="Text 19"/>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End-to-End Analytical Workflow</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From species-level traits to interaction models and interpretation figures.</a:t>
            </a:r>
            <a:endParaRPr lang="en-US" sz="900" dirty="0"/>
          </a:p>
        </p:txBody>
      </p:sp>
      <p:sp>
        <p:nvSpPr>
          <p:cNvPr id="7" name="Shape 3"/>
          <p:cNvSpPr/>
          <p:nvPr/>
        </p:nvSpPr>
        <p:spPr>
          <a:xfrm>
            <a:off x="548640" y="1920240"/>
            <a:ext cx="3401568" cy="868680"/>
          </a:xfrm>
          <a:prstGeom prst="roundRect">
            <a:avLst>
              <a:gd name="adj" fmla="val 8421"/>
            </a:avLst>
          </a:prstGeom>
          <a:solidFill>
            <a:srgbClr val="F4FBF8"/>
          </a:solidFill>
          <a:ln w="12700">
            <a:solidFill>
              <a:srgbClr val="D4DFDC"/>
            </a:solidFill>
            <a:prstDash val="solid"/>
          </a:ln>
        </p:spPr>
      </p:sp>
      <p:sp>
        <p:nvSpPr>
          <p:cNvPr id="8" name="Text 4"/>
          <p:cNvSpPr/>
          <p:nvPr/>
        </p:nvSpPr>
        <p:spPr>
          <a:xfrm>
            <a:off x="694944" y="2029968"/>
            <a:ext cx="2971800" cy="164592"/>
          </a:xfrm>
          <a:prstGeom prst="rect">
            <a:avLst/>
          </a:prstGeom>
          <a:noFill/>
          <a:ln/>
        </p:spPr>
        <p:txBody>
          <a:bodyPr wrap="square" lIns="0" tIns="0" rIns="0" bIns="0" rtlCol="0" anchor="ctr"/>
          <a:lstStyle/>
          <a:p>
            <a:pPr indent="0" marL="0">
              <a:buNone/>
            </a:pPr>
            <a:r>
              <a:rPr lang="en-US" sz="1200" b="1" dirty="0">
                <a:solidFill>
                  <a:srgbClr val="2D2D2D"/>
                </a:solidFill>
              </a:rPr>
              <a:t>1. Species traits</a:t>
            </a:r>
            <a:endParaRPr lang="en-US" sz="1200" dirty="0"/>
          </a:p>
        </p:txBody>
      </p:sp>
      <p:sp>
        <p:nvSpPr>
          <p:cNvPr id="9" name="Text 5"/>
          <p:cNvSpPr/>
          <p:nvPr/>
        </p:nvSpPr>
        <p:spPr>
          <a:xfrm>
            <a:off x="694944" y="2240280"/>
            <a:ext cx="2944368" cy="384048"/>
          </a:xfrm>
          <a:prstGeom prst="rect">
            <a:avLst/>
          </a:prstGeom>
          <a:noFill/>
          <a:ln/>
        </p:spPr>
        <p:txBody>
          <a:bodyPr wrap="square" lIns="0" tIns="0" rIns="0" bIns="0" rtlCol="0" anchor="t"/>
          <a:lstStyle/>
          <a:p>
            <a:pPr indent="0" marL="0">
              <a:buNone/>
            </a:pPr>
            <a:r>
              <a:rPr lang="en-US" sz="920" dirty="0">
                <a:solidFill>
                  <a:srgbClr val="2D2D2D"/>
                </a:solidFill>
              </a:rPr>
              <a:t>Median trait values per species: RS, HB, TR, HWI, GL, CS, BM.</a:t>
            </a:r>
            <a:endParaRPr lang="en-US" sz="920" dirty="0"/>
          </a:p>
        </p:txBody>
      </p:sp>
      <p:sp>
        <p:nvSpPr>
          <p:cNvPr id="10" name="Shape 6"/>
          <p:cNvSpPr/>
          <p:nvPr/>
        </p:nvSpPr>
        <p:spPr>
          <a:xfrm>
            <a:off x="4206240" y="1920240"/>
            <a:ext cx="3401568" cy="868680"/>
          </a:xfrm>
          <a:prstGeom prst="roundRect">
            <a:avLst>
              <a:gd name="adj" fmla="val 8421"/>
            </a:avLst>
          </a:prstGeom>
          <a:solidFill>
            <a:srgbClr val="F8FAFD"/>
          </a:solidFill>
          <a:ln w="12700">
            <a:solidFill>
              <a:srgbClr val="D4DFDC"/>
            </a:solidFill>
            <a:prstDash val="solid"/>
          </a:ln>
        </p:spPr>
      </p:sp>
      <p:sp>
        <p:nvSpPr>
          <p:cNvPr id="11" name="Text 7"/>
          <p:cNvSpPr/>
          <p:nvPr/>
        </p:nvSpPr>
        <p:spPr>
          <a:xfrm>
            <a:off x="4352544" y="2029968"/>
            <a:ext cx="2971800" cy="164592"/>
          </a:xfrm>
          <a:prstGeom prst="rect">
            <a:avLst/>
          </a:prstGeom>
          <a:noFill/>
          <a:ln/>
        </p:spPr>
        <p:txBody>
          <a:bodyPr wrap="square" lIns="0" tIns="0" rIns="0" bIns="0" rtlCol="0" anchor="ctr"/>
          <a:lstStyle/>
          <a:p>
            <a:pPr indent="0" marL="0">
              <a:buNone/>
            </a:pPr>
            <a:r>
              <a:rPr lang="en-US" sz="1200" b="1" dirty="0">
                <a:solidFill>
                  <a:srgbClr val="2D2D2D"/>
                </a:solidFill>
              </a:rPr>
              <a:t>2. Robust trait space</a:t>
            </a:r>
            <a:endParaRPr lang="en-US" sz="1200" dirty="0"/>
          </a:p>
        </p:txBody>
      </p:sp>
      <p:sp>
        <p:nvSpPr>
          <p:cNvPr id="12" name="Text 8"/>
          <p:cNvSpPr/>
          <p:nvPr/>
        </p:nvSpPr>
        <p:spPr>
          <a:xfrm>
            <a:off x="4352544" y="2240280"/>
            <a:ext cx="2944368" cy="384048"/>
          </a:xfrm>
          <a:prstGeom prst="rect">
            <a:avLst/>
          </a:prstGeom>
          <a:noFill/>
          <a:ln/>
        </p:spPr>
        <p:txBody>
          <a:bodyPr wrap="square" lIns="0" tIns="0" rIns="0" bIns="0" rtlCol="0" anchor="t"/>
          <a:lstStyle/>
          <a:p>
            <a:pPr indent="0" marL="0">
              <a:buNone/>
            </a:pPr>
            <a:r>
              <a:rPr lang="en-US" sz="920" dirty="0">
                <a:solidFill>
                  <a:srgbClr val="2D2D2D"/>
                </a:solidFill>
              </a:rPr>
              <a:t>Log-transform skewed traits, winsorise tails, standardise, then run PCA.</a:t>
            </a:r>
            <a:endParaRPr lang="en-US" sz="920" dirty="0"/>
          </a:p>
        </p:txBody>
      </p:sp>
      <p:sp>
        <p:nvSpPr>
          <p:cNvPr id="13" name="Shape 9"/>
          <p:cNvSpPr/>
          <p:nvPr/>
        </p:nvSpPr>
        <p:spPr>
          <a:xfrm>
            <a:off x="7863840" y="1920240"/>
            <a:ext cx="3401568" cy="868680"/>
          </a:xfrm>
          <a:prstGeom prst="roundRect">
            <a:avLst>
              <a:gd name="adj" fmla="val 8421"/>
            </a:avLst>
          </a:prstGeom>
          <a:solidFill>
            <a:srgbClr val="F4FBF8"/>
          </a:solidFill>
          <a:ln w="12700">
            <a:solidFill>
              <a:srgbClr val="D4DFDC"/>
            </a:solidFill>
            <a:prstDash val="solid"/>
          </a:ln>
        </p:spPr>
      </p:sp>
      <p:sp>
        <p:nvSpPr>
          <p:cNvPr id="14" name="Text 10"/>
          <p:cNvSpPr/>
          <p:nvPr/>
        </p:nvSpPr>
        <p:spPr>
          <a:xfrm>
            <a:off x="8010144" y="2029968"/>
            <a:ext cx="2971800" cy="164592"/>
          </a:xfrm>
          <a:prstGeom prst="rect">
            <a:avLst/>
          </a:prstGeom>
          <a:noFill/>
          <a:ln/>
        </p:spPr>
        <p:txBody>
          <a:bodyPr wrap="square" lIns="0" tIns="0" rIns="0" bIns="0" rtlCol="0" anchor="ctr"/>
          <a:lstStyle/>
          <a:p>
            <a:pPr indent="0" marL="0">
              <a:buNone/>
            </a:pPr>
            <a:r>
              <a:rPr lang="en-US" sz="1200" b="1" dirty="0">
                <a:solidFill>
                  <a:srgbClr val="2D2D2D"/>
                </a:solidFill>
              </a:rPr>
              <a:t>3. Candidate FG schemes</a:t>
            </a:r>
            <a:endParaRPr lang="en-US" sz="1200" dirty="0"/>
          </a:p>
        </p:txBody>
      </p:sp>
      <p:sp>
        <p:nvSpPr>
          <p:cNvPr id="15" name="Text 11"/>
          <p:cNvSpPr/>
          <p:nvPr/>
        </p:nvSpPr>
        <p:spPr>
          <a:xfrm>
            <a:off x="8010144" y="2240280"/>
            <a:ext cx="2944368" cy="384048"/>
          </a:xfrm>
          <a:prstGeom prst="rect">
            <a:avLst/>
          </a:prstGeom>
          <a:noFill/>
          <a:ln/>
        </p:spPr>
        <p:txBody>
          <a:bodyPr wrap="square" lIns="0" tIns="0" rIns="0" bIns="0" rtlCol="0" anchor="t"/>
          <a:lstStyle/>
          <a:p>
            <a:pPr indent="0" marL="0">
              <a:buNone/>
            </a:pPr>
            <a:r>
              <a:rPr lang="en-US" sz="920" dirty="0">
                <a:solidFill>
                  <a:srgbClr val="2D2D2D"/>
                </a:solidFill>
              </a:rPr>
              <a:t>Compare kmeans, PAM, and Ward clustering with K = 2 to 5.</a:t>
            </a:r>
            <a:endParaRPr lang="en-US" sz="920" dirty="0"/>
          </a:p>
        </p:txBody>
      </p:sp>
      <p:sp>
        <p:nvSpPr>
          <p:cNvPr id="16" name="Shape 12"/>
          <p:cNvSpPr/>
          <p:nvPr/>
        </p:nvSpPr>
        <p:spPr>
          <a:xfrm>
            <a:off x="548640" y="2999232"/>
            <a:ext cx="3401568" cy="868680"/>
          </a:xfrm>
          <a:prstGeom prst="roundRect">
            <a:avLst>
              <a:gd name="adj" fmla="val 8421"/>
            </a:avLst>
          </a:prstGeom>
          <a:solidFill>
            <a:srgbClr val="F8FAFD"/>
          </a:solidFill>
          <a:ln w="12700">
            <a:solidFill>
              <a:srgbClr val="D4DFDC"/>
            </a:solidFill>
            <a:prstDash val="solid"/>
          </a:ln>
        </p:spPr>
      </p:sp>
      <p:sp>
        <p:nvSpPr>
          <p:cNvPr id="17" name="Text 13"/>
          <p:cNvSpPr/>
          <p:nvPr/>
        </p:nvSpPr>
        <p:spPr>
          <a:xfrm>
            <a:off x="694944" y="3108960"/>
            <a:ext cx="2971800" cy="164592"/>
          </a:xfrm>
          <a:prstGeom prst="rect">
            <a:avLst/>
          </a:prstGeom>
          <a:noFill/>
          <a:ln/>
        </p:spPr>
        <p:txBody>
          <a:bodyPr wrap="square" lIns="0" tIns="0" rIns="0" bIns="0" rtlCol="0" anchor="ctr"/>
          <a:lstStyle/>
          <a:p>
            <a:pPr indent="0" marL="0">
              <a:buNone/>
            </a:pPr>
            <a:r>
              <a:rPr lang="en-US" sz="1200" b="1" dirty="0">
                <a:solidFill>
                  <a:srgbClr val="2D2D2D"/>
                </a:solidFill>
              </a:rPr>
              <a:t>4. Stability filter</a:t>
            </a:r>
            <a:endParaRPr lang="en-US" sz="1200" dirty="0"/>
          </a:p>
        </p:txBody>
      </p:sp>
      <p:sp>
        <p:nvSpPr>
          <p:cNvPr id="18" name="Text 14"/>
          <p:cNvSpPr/>
          <p:nvPr/>
        </p:nvSpPr>
        <p:spPr>
          <a:xfrm>
            <a:off x="694944" y="3319272"/>
            <a:ext cx="2944368" cy="384048"/>
          </a:xfrm>
          <a:prstGeom prst="rect">
            <a:avLst/>
          </a:prstGeom>
          <a:noFill/>
          <a:ln/>
        </p:spPr>
        <p:txBody>
          <a:bodyPr wrap="square" lIns="0" tIns="0" rIns="0" bIns="0" rtlCol="0" anchor="t"/>
          <a:lstStyle/>
          <a:p>
            <a:pPr indent="0" marL="0">
              <a:buNone/>
            </a:pPr>
            <a:r>
              <a:rPr lang="en-US" sz="920" dirty="0">
                <a:solidFill>
                  <a:srgbClr val="2D2D2D"/>
                </a:solidFill>
              </a:rPr>
              <a:t>Retain only solutions with acceptable silhouette, minimum group proportion, and bootstrap Jaccard stability.</a:t>
            </a:r>
            <a:endParaRPr lang="en-US" sz="920" dirty="0"/>
          </a:p>
        </p:txBody>
      </p:sp>
      <p:sp>
        <p:nvSpPr>
          <p:cNvPr id="19" name="Shape 15"/>
          <p:cNvSpPr/>
          <p:nvPr/>
        </p:nvSpPr>
        <p:spPr>
          <a:xfrm>
            <a:off x="4206240" y="2999232"/>
            <a:ext cx="3401568" cy="868680"/>
          </a:xfrm>
          <a:prstGeom prst="roundRect">
            <a:avLst>
              <a:gd name="adj" fmla="val 8421"/>
            </a:avLst>
          </a:prstGeom>
          <a:solidFill>
            <a:srgbClr val="F4FBF8"/>
          </a:solidFill>
          <a:ln w="12700">
            <a:solidFill>
              <a:srgbClr val="D4DFDC"/>
            </a:solidFill>
            <a:prstDash val="solid"/>
          </a:ln>
        </p:spPr>
      </p:sp>
      <p:sp>
        <p:nvSpPr>
          <p:cNvPr id="20" name="Text 16"/>
          <p:cNvSpPr/>
          <p:nvPr/>
        </p:nvSpPr>
        <p:spPr>
          <a:xfrm>
            <a:off x="4352544" y="3108960"/>
            <a:ext cx="2971800" cy="164592"/>
          </a:xfrm>
          <a:prstGeom prst="rect">
            <a:avLst/>
          </a:prstGeom>
          <a:noFill/>
          <a:ln/>
        </p:spPr>
        <p:txBody>
          <a:bodyPr wrap="square" lIns="0" tIns="0" rIns="0" bIns="0" rtlCol="0" anchor="ctr"/>
          <a:lstStyle/>
          <a:p>
            <a:pPr indent="0" marL="0">
              <a:buNone/>
            </a:pPr>
            <a:r>
              <a:rPr lang="en-US" sz="1200" b="1" dirty="0">
                <a:solidFill>
                  <a:srgbClr val="2D2D2D"/>
                </a:solidFill>
              </a:rPr>
              <a:t>5. Final FG interpretation</a:t>
            </a:r>
            <a:endParaRPr lang="en-US" sz="1200" dirty="0"/>
          </a:p>
        </p:txBody>
      </p:sp>
      <p:sp>
        <p:nvSpPr>
          <p:cNvPr id="21" name="Text 17"/>
          <p:cNvSpPr/>
          <p:nvPr/>
        </p:nvSpPr>
        <p:spPr>
          <a:xfrm>
            <a:off x="4352544" y="3319272"/>
            <a:ext cx="2944368" cy="384048"/>
          </a:xfrm>
          <a:prstGeom prst="rect">
            <a:avLst/>
          </a:prstGeom>
          <a:noFill/>
          <a:ln/>
        </p:spPr>
        <p:txBody>
          <a:bodyPr wrap="square" lIns="0" tIns="0" rIns="0" bIns="0" rtlCol="0" anchor="t"/>
          <a:lstStyle/>
          <a:p>
            <a:pPr indent="0" marL="0">
              <a:buNone/>
            </a:pPr>
            <a:r>
              <a:rPr lang="en-US" sz="920" dirty="0">
                <a:solidFill>
                  <a:srgbClr val="2D2D2D"/>
                </a:solidFill>
              </a:rPr>
              <a:t>Map the selected FG back to raw traits and summarise ecological syndromes.</a:t>
            </a:r>
            <a:endParaRPr lang="en-US" sz="920" dirty="0"/>
          </a:p>
        </p:txBody>
      </p:sp>
      <p:sp>
        <p:nvSpPr>
          <p:cNvPr id="22" name="Shape 18"/>
          <p:cNvSpPr/>
          <p:nvPr/>
        </p:nvSpPr>
        <p:spPr>
          <a:xfrm>
            <a:off x="7863840" y="2999232"/>
            <a:ext cx="3401568" cy="868680"/>
          </a:xfrm>
          <a:prstGeom prst="roundRect">
            <a:avLst>
              <a:gd name="adj" fmla="val 8421"/>
            </a:avLst>
          </a:prstGeom>
          <a:solidFill>
            <a:srgbClr val="F8FAFD"/>
          </a:solidFill>
          <a:ln w="12700">
            <a:solidFill>
              <a:srgbClr val="D4DFDC"/>
            </a:solidFill>
            <a:prstDash val="solid"/>
          </a:ln>
        </p:spPr>
      </p:sp>
      <p:sp>
        <p:nvSpPr>
          <p:cNvPr id="23" name="Text 19"/>
          <p:cNvSpPr/>
          <p:nvPr/>
        </p:nvSpPr>
        <p:spPr>
          <a:xfrm>
            <a:off x="8010144" y="3108960"/>
            <a:ext cx="2971800" cy="164592"/>
          </a:xfrm>
          <a:prstGeom prst="rect">
            <a:avLst/>
          </a:prstGeom>
          <a:noFill/>
          <a:ln/>
        </p:spPr>
        <p:txBody>
          <a:bodyPr wrap="square" lIns="0" tIns="0" rIns="0" bIns="0" rtlCol="0" anchor="ctr"/>
          <a:lstStyle/>
          <a:p>
            <a:pPr indent="0" marL="0">
              <a:buNone/>
            </a:pPr>
            <a:r>
              <a:rPr lang="en-US" sz="1200" b="1" dirty="0">
                <a:solidFill>
                  <a:srgbClr val="2D2D2D"/>
                </a:solidFill>
              </a:rPr>
              <a:t>6. Interaction modelling</a:t>
            </a:r>
            <a:endParaRPr lang="en-US" sz="1200" dirty="0"/>
          </a:p>
        </p:txBody>
      </p:sp>
      <p:sp>
        <p:nvSpPr>
          <p:cNvPr id="24" name="Text 20"/>
          <p:cNvSpPr/>
          <p:nvPr/>
        </p:nvSpPr>
        <p:spPr>
          <a:xfrm>
            <a:off x="8010144" y="3319272"/>
            <a:ext cx="2944368" cy="384048"/>
          </a:xfrm>
          <a:prstGeom prst="rect">
            <a:avLst/>
          </a:prstGeom>
          <a:noFill/>
          <a:ln/>
        </p:spPr>
        <p:txBody>
          <a:bodyPr wrap="square" lIns="0" tIns="0" rIns="0" bIns="0" rtlCol="0" anchor="t"/>
          <a:lstStyle/>
          <a:p>
            <a:pPr indent="0" marL="0">
              <a:buNone/>
            </a:pPr>
            <a:r>
              <a:rPr lang="en-US" sz="920" dirty="0">
                <a:solidFill>
                  <a:srgbClr val="2D2D2D"/>
                </a:solidFill>
              </a:rPr>
              <a:t>Fit UI2 x warming x FG occurrence models, then derive two-way and three-way summaries.</a:t>
            </a:r>
            <a:endParaRPr lang="en-US" sz="920" dirty="0"/>
          </a:p>
        </p:txBody>
      </p:sp>
      <p:sp>
        <p:nvSpPr>
          <p:cNvPr id="25" name="Shape 21"/>
          <p:cNvSpPr/>
          <p:nvPr/>
        </p:nvSpPr>
        <p:spPr>
          <a:xfrm>
            <a:off x="8394192" y="4370832"/>
            <a:ext cx="3127248" cy="1417320"/>
          </a:xfrm>
          <a:prstGeom prst="roundRect">
            <a:avLst>
              <a:gd name="adj" fmla="val 5161"/>
            </a:avLst>
          </a:prstGeom>
          <a:solidFill>
            <a:srgbClr val="F8FBFA"/>
          </a:solidFill>
          <a:ln w="12700">
            <a:solidFill>
              <a:srgbClr val="CFE3DD"/>
            </a:solidFill>
            <a:prstDash val="solid"/>
          </a:ln>
        </p:spPr>
      </p:sp>
      <p:sp>
        <p:nvSpPr>
          <p:cNvPr id="26" name="Shape 22"/>
          <p:cNvSpPr/>
          <p:nvPr/>
        </p:nvSpPr>
        <p:spPr>
          <a:xfrm>
            <a:off x="8394192" y="4370832"/>
            <a:ext cx="3127248" cy="329184"/>
          </a:xfrm>
          <a:prstGeom prst="rect">
            <a:avLst/>
          </a:prstGeom>
          <a:solidFill>
            <a:srgbClr val="8FD5C3"/>
          </a:solidFill>
          <a:ln w="12700">
            <a:solidFill>
              <a:srgbClr val="8FD5C3">
                <a:alpha val="0"/>
              </a:srgbClr>
            </a:solidFill>
            <a:prstDash val="solid"/>
          </a:ln>
        </p:spPr>
      </p:sp>
      <p:sp>
        <p:nvSpPr>
          <p:cNvPr id="27" name="Text 23"/>
          <p:cNvSpPr/>
          <p:nvPr/>
        </p:nvSpPr>
        <p:spPr>
          <a:xfrm>
            <a:off x="8558784" y="4443984"/>
            <a:ext cx="2798064" cy="164592"/>
          </a:xfrm>
          <a:prstGeom prst="rect">
            <a:avLst/>
          </a:prstGeom>
          <a:noFill/>
          <a:ln/>
        </p:spPr>
        <p:txBody>
          <a:bodyPr wrap="square" lIns="0" tIns="0" rIns="0" bIns="0" rtlCol="0" anchor="ctr"/>
          <a:lstStyle/>
          <a:p>
            <a:pPr indent="0" marL="0">
              <a:buNone/>
            </a:pPr>
            <a:r>
              <a:rPr lang="en-US" sz="1100" b="1" dirty="0">
                <a:solidFill>
                  <a:srgbClr val="2D2D2D"/>
                </a:solidFill>
              </a:rPr>
              <a:t>Final choice</a:t>
            </a:r>
            <a:endParaRPr lang="en-US" sz="1100" dirty="0"/>
          </a:p>
        </p:txBody>
      </p:sp>
      <p:sp>
        <p:nvSpPr>
          <p:cNvPr id="28" name="Shape 24"/>
          <p:cNvSpPr/>
          <p:nvPr/>
        </p:nvSpPr>
        <p:spPr>
          <a:xfrm>
            <a:off x="8558784" y="4901184"/>
            <a:ext cx="73152" cy="73152"/>
          </a:xfrm>
          <a:prstGeom prst="ellipse">
            <a:avLst/>
          </a:prstGeom>
          <a:solidFill>
            <a:srgbClr val="8FD5C3"/>
          </a:solidFill>
          <a:ln w="12700">
            <a:solidFill>
              <a:srgbClr val="8FD5C3">
                <a:alpha val="0"/>
              </a:srgbClr>
            </a:solidFill>
            <a:prstDash val="solid"/>
          </a:ln>
        </p:spPr>
      </p:sp>
      <p:sp>
        <p:nvSpPr>
          <p:cNvPr id="29" name="Text 25"/>
          <p:cNvSpPr/>
          <p:nvPr/>
        </p:nvSpPr>
        <p:spPr>
          <a:xfrm>
            <a:off x="8686800" y="4846320"/>
            <a:ext cx="2688336" cy="420624"/>
          </a:xfrm>
          <a:prstGeom prst="rect">
            <a:avLst/>
          </a:prstGeom>
          <a:noFill/>
          <a:ln/>
        </p:spPr>
        <p:txBody>
          <a:bodyPr wrap="square" lIns="0" tIns="0" rIns="0" bIns="0" rtlCol="0" anchor="t"/>
          <a:lstStyle/>
          <a:p>
            <a:pPr indent="0" marL="0">
              <a:buNone/>
            </a:pPr>
            <a:r>
              <a:rPr lang="en-US" sz="920" dirty="0">
                <a:solidFill>
                  <a:srgbClr val="2D2D2D"/>
                </a:solidFill>
              </a:rPr>
              <a:t>Selected scheme: kmeans, K = 3.</a:t>
            </a:r>
            <a:endParaRPr lang="en-US" sz="920" dirty="0"/>
          </a:p>
        </p:txBody>
      </p:sp>
      <p:sp>
        <p:nvSpPr>
          <p:cNvPr id="30" name="Shape 26"/>
          <p:cNvSpPr/>
          <p:nvPr/>
        </p:nvSpPr>
        <p:spPr>
          <a:xfrm>
            <a:off x="8558784" y="5404104"/>
            <a:ext cx="73152" cy="73152"/>
          </a:xfrm>
          <a:prstGeom prst="ellipse">
            <a:avLst/>
          </a:prstGeom>
          <a:solidFill>
            <a:srgbClr val="8FD5C3"/>
          </a:solidFill>
          <a:ln w="12700">
            <a:solidFill>
              <a:srgbClr val="8FD5C3">
                <a:alpha val="0"/>
              </a:srgbClr>
            </a:solidFill>
            <a:prstDash val="solid"/>
          </a:ln>
        </p:spPr>
      </p:sp>
      <p:sp>
        <p:nvSpPr>
          <p:cNvPr id="31" name="Text 27"/>
          <p:cNvSpPr/>
          <p:nvPr/>
        </p:nvSpPr>
        <p:spPr>
          <a:xfrm>
            <a:off x="8686800" y="5349240"/>
            <a:ext cx="2688336" cy="420624"/>
          </a:xfrm>
          <a:prstGeom prst="rect">
            <a:avLst/>
          </a:prstGeom>
          <a:noFill/>
          <a:ln/>
        </p:spPr>
        <p:txBody>
          <a:bodyPr wrap="square" lIns="0" tIns="0" rIns="0" bIns="0" rtlCol="0" anchor="t"/>
          <a:lstStyle/>
          <a:p>
            <a:pPr indent="0" marL="0">
              <a:buNone/>
            </a:pPr>
            <a:r>
              <a:rPr lang="en-US" sz="920" dirty="0">
                <a:solidFill>
                  <a:srgbClr val="2D2D2D"/>
                </a:solidFill>
              </a:rPr>
              <a:t>Species per group: 588, 828, and 1429.</a:t>
            </a:r>
            <a:endParaRPr lang="en-US" sz="920" dirty="0"/>
          </a:p>
        </p:txBody>
      </p:sp>
      <p:sp>
        <p:nvSpPr>
          <p:cNvPr id="32" name="Shape 28"/>
          <p:cNvSpPr/>
          <p:nvPr/>
        </p:nvSpPr>
        <p:spPr>
          <a:xfrm>
            <a:off x="8558784" y="5907024"/>
            <a:ext cx="73152" cy="73152"/>
          </a:xfrm>
          <a:prstGeom prst="ellipse">
            <a:avLst/>
          </a:prstGeom>
          <a:solidFill>
            <a:srgbClr val="8FD5C3"/>
          </a:solidFill>
          <a:ln w="12700">
            <a:solidFill>
              <a:srgbClr val="8FD5C3">
                <a:alpha val="0"/>
              </a:srgbClr>
            </a:solidFill>
            <a:prstDash val="solid"/>
          </a:ln>
        </p:spPr>
      </p:sp>
      <p:sp>
        <p:nvSpPr>
          <p:cNvPr id="33" name="Text 29"/>
          <p:cNvSpPr/>
          <p:nvPr/>
        </p:nvSpPr>
        <p:spPr>
          <a:xfrm>
            <a:off x="8686800" y="5852160"/>
            <a:ext cx="2688336" cy="420624"/>
          </a:xfrm>
          <a:prstGeom prst="rect">
            <a:avLst/>
          </a:prstGeom>
          <a:noFill/>
          <a:ln/>
        </p:spPr>
        <p:txBody>
          <a:bodyPr wrap="square" lIns="0" tIns="0" rIns="0" bIns="0" rtlCol="0" anchor="t"/>
          <a:lstStyle/>
          <a:p>
            <a:pPr indent="0" marL="0">
              <a:buNone/>
            </a:pPr>
            <a:r>
              <a:rPr lang="en-US" sz="920" dirty="0">
                <a:solidFill>
                  <a:srgbClr val="2D2D2D"/>
                </a:solidFill>
              </a:rPr>
              <a:t>Main interpretation: slow-history/high-dispersal, broad-niche/high-fecundity, and range-restricted/specialist groups.</a:t>
            </a:r>
            <a:endParaRPr lang="en-US" sz="920" dirty="0"/>
          </a:p>
        </p:txBody>
      </p:sp>
      <p:sp>
        <p:nvSpPr>
          <p:cNvPr id="35" name="Text 30"/>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Selecting a Stable and Interpretable FG Scheme</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Candidate screening across clustering method, group number, balance, and bootstrap stability.</a:t>
            </a:r>
            <a:endParaRPr lang="en-US" sz="900" dirty="0"/>
          </a:p>
        </p:txBody>
      </p:sp>
      <p:pic>
        <p:nvPicPr>
          <p:cNvPr id="7" name="Image 2" descr="/Users/dingchenchen/lucc/glmmTMB_occurrence_FG_RobustPCAKmeans_FULL_plusTwoWay/01_Exploration_and_FG_Interpretation/FG_candidate_selection_tradeoff.png">    </p:cNvPr>
          <p:cNvPicPr>
            <a:picLocks noChangeAspect="1"/>
          </p:cNvPicPr>
          <p:nvPr/>
        </p:nvPicPr>
        <p:blipFill>
          <a:blip r:embed="rId3"/>
          <a:stretch>
            <a:fillRect/>
          </a:stretch>
        </p:blipFill>
        <p:spPr>
          <a:xfrm>
            <a:off x="1166495" y="1975104"/>
            <a:ext cx="6125210"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8FD5C3"/>
          </a:solidFill>
          <a:ln w="12700">
            <a:solidFill>
              <a:srgbClr val="8FD5C3">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8FD5C3"/>
          </a:solidFill>
          <a:ln w="12700">
            <a:solidFill>
              <a:srgbClr val="8FD5C3">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The selected solution is kmeans with K = 3, because it remains close to the best silhouette while also passing group-size and stability thresholds.</a:t>
            </a:r>
            <a:endParaRPr lang="en-US" sz="920" dirty="0"/>
          </a:p>
        </p:txBody>
      </p:sp>
      <p:sp>
        <p:nvSpPr>
          <p:cNvPr id="13" name="Shape 8"/>
          <p:cNvSpPr/>
          <p:nvPr/>
        </p:nvSpPr>
        <p:spPr>
          <a:xfrm>
            <a:off x="8394192" y="3026664"/>
            <a:ext cx="73152" cy="73152"/>
          </a:xfrm>
          <a:prstGeom prst="ellipse">
            <a:avLst/>
          </a:prstGeom>
          <a:solidFill>
            <a:srgbClr val="8FD5C3"/>
          </a:solidFill>
          <a:ln w="12700">
            <a:solidFill>
              <a:srgbClr val="8FD5C3">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K = 2 is also statistically acceptable, but K = 3 preserves more ecological detail and supports clearer interpretation.</a:t>
            </a:r>
            <a:endParaRPr lang="en-US" sz="920" dirty="0"/>
          </a:p>
        </p:txBody>
      </p:sp>
      <p:sp>
        <p:nvSpPr>
          <p:cNvPr id="15" name="Shape 10"/>
          <p:cNvSpPr/>
          <p:nvPr/>
        </p:nvSpPr>
        <p:spPr>
          <a:xfrm>
            <a:off x="8394192" y="3529584"/>
            <a:ext cx="73152" cy="73152"/>
          </a:xfrm>
          <a:prstGeom prst="ellipse">
            <a:avLst/>
          </a:prstGeom>
          <a:solidFill>
            <a:srgbClr val="8FD5C3"/>
          </a:solidFill>
          <a:ln w="12700">
            <a:solidFill>
              <a:srgbClr val="8FD5C3">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Higher-K solutions lose stability or create overly small groups, so they were not retained.</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candidate selection trade-off for the final FG scheme.</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Functional Strategy Space in PCA Coordinates</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The selected FG scheme separates species into three distinct parts of multivariate trait space.</a:t>
            </a:r>
            <a:endParaRPr lang="en-US" sz="900" dirty="0"/>
          </a:p>
        </p:txBody>
      </p:sp>
      <p:pic>
        <p:nvPicPr>
          <p:cNvPr id="7" name="Image 2" descr="/Users/dingchenchen/lucc/glmmTMB_occurrence_FG_RobustPCAKmeans_FULL_plusTwoWay/01_Exploration_and_FG_Interpretation/Fig3_PCA_biplot_FG_RobustStable.png">    </p:cNvPr>
          <p:cNvPicPr>
            <a:picLocks noChangeAspect="1"/>
          </p:cNvPicPr>
          <p:nvPr/>
        </p:nvPicPr>
        <p:blipFill>
          <a:blip r:embed="rId3"/>
          <a:stretch>
            <a:fillRect/>
          </a:stretch>
        </p:blipFill>
        <p:spPr>
          <a:xfrm>
            <a:off x="1272941" y="1975104"/>
            <a:ext cx="5912318"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D8E7FF"/>
          </a:solidFill>
          <a:ln w="12700">
            <a:solidFill>
              <a:srgbClr val="D8E7FF">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D8E7FF"/>
          </a:solidFill>
          <a:ln w="12700">
            <a:solidFill>
              <a:srgbClr val="D8E7FF">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The three FG occupy distinct regions of the robust PCA space rather than collapsing into a tiny outlier cluster.</a:t>
            </a:r>
            <a:endParaRPr lang="en-US" sz="920" dirty="0"/>
          </a:p>
        </p:txBody>
      </p:sp>
      <p:sp>
        <p:nvSpPr>
          <p:cNvPr id="13" name="Shape 8"/>
          <p:cNvSpPr/>
          <p:nvPr/>
        </p:nvSpPr>
        <p:spPr>
          <a:xfrm>
            <a:off x="8394192" y="3026664"/>
            <a:ext cx="73152" cy="73152"/>
          </a:xfrm>
          <a:prstGeom prst="ellipse">
            <a:avLst/>
          </a:prstGeom>
          <a:solidFill>
            <a:srgbClr val="D8E7FF"/>
          </a:solidFill>
          <a:ln w="12700">
            <a:solidFill>
              <a:srgbClr val="D8E7FF">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FG1 is pulled toward generation length, dispersal ability, and body mass; FG2 toward thermal range, clutch size, and habitat breadth.</a:t>
            </a:r>
            <a:endParaRPr lang="en-US" sz="920" dirty="0"/>
          </a:p>
        </p:txBody>
      </p:sp>
      <p:sp>
        <p:nvSpPr>
          <p:cNvPr id="15" name="Shape 10"/>
          <p:cNvSpPr/>
          <p:nvPr/>
        </p:nvSpPr>
        <p:spPr>
          <a:xfrm>
            <a:off x="8394192" y="3529584"/>
            <a:ext cx="73152" cy="73152"/>
          </a:xfrm>
          <a:prstGeom prst="ellipse">
            <a:avLst/>
          </a:prstGeom>
          <a:solidFill>
            <a:srgbClr val="D8E7FF"/>
          </a:solidFill>
          <a:ln w="12700">
            <a:solidFill>
              <a:srgbClr val="D8E7FF">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FG3 lies on the opposite side for several traits, consistent with a more range-restricted and specialist strategy.</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3: PCA space and final functional strategy groups.</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Trait Syndromes Defining the Three FG</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Species-standardised raw-trait profiles show complementary ecological strategies.</a:t>
            </a:r>
            <a:endParaRPr lang="en-US" sz="900" dirty="0"/>
          </a:p>
        </p:txBody>
      </p:sp>
      <p:pic>
        <p:nvPicPr>
          <p:cNvPr id="7" name="Image 2" descr="/Users/dingchenchen/lucc/glmmTMB_occurrence_FG_RobustPCAKmeans_FULL_plusTwoWay/01_Exploration_and_FG_Interpretation/Fig4_FG_trait_profiles_Zscore_bar.png">    </p:cNvPr>
          <p:cNvPicPr>
            <a:picLocks noChangeAspect="1"/>
          </p:cNvPicPr>
          <p:nvPr/>
        </p:nvPicPr>
        <p:blipFill>
          <a:blip r:embed="rId3"/>
          <a:stretch>
            <a:fillRect/>
          </a:stretch>
        </p:blipFill>
        <p:spPr>
          <a:xfrm>
            <a:off x="888076" y="1975104"/>
            <a:ext cx="6682047"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FDE7E7"/>
          </a:solidFill>
          <a:ln w="12700">
            <a:solidFill>
              <a:srgbClr val="FDE7E7">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FDE7E7"/>
          </a:solidFill>
          <a:ln w="12700">
            <a:solidFill>
              <a:srgbClr val="FDE7E7">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FG1 is characterised by longer generation length, stronger dispersal capacity, and larger body size.</a:t>
            </a:r>
            <a:endParaRPr lang="en-US" sz="920" dirty="0"/>
          </a:p>
        </p:txBody>
      </p:sp>
      <p:sp>
        <p:nvSpPr>
          <p:cNvPr id="13" name="Shape 8"/>
          <p:cNvSpPr/>
          <p:nvPr/>
        </p:nvSpPr>
        <p:spPr>
          <a:xfrm>
            <a:off x="8394192" y="3026664"/>
            <a:ext cx="73152" cy="73152"/>
          </a:xfrm>
          <a:prstGeom prst="ellipse">
            <a:avLst/>
          </a:prstGeom>
          <a:solidFill>
            <a:srgbClr val="FDE7E7"/>
          </a:solidFill>
          <a:ln w="12700">
            <a:solidFill>
              <a:srgbClr val="FDE7E7">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FG2 stands out for broader thermal range, wider habitat breadth, and higher clutch size.</a:t>
            </a:r>
            <a:endParaRPr lang="en-US" sz="920" dirty="0"/>
          </a:p>
        </p:txBody>
      </p:sp>
      <p:sp>
        <p:nvSpPr>
          <p:cNvPr id="15" name="Shape 10"/>
          <p:cNvSpPr/>
          <p:nvPr/>
        </p:nvSpPr>
        <p:spPr>
          <a:xfrm>
            <a:off x="8394192" y="3529584"/>
            <a:ext cx="73152" cy="73152"/>
          </a:xfrm>
          <a:prstGeom prst="ellipse">
            <a:avLst/>
          </a:prstGeom>
          <a:solidFill>
            <a:srgbClr val="FDE7E7"/>
          </a:solidFill>
          <a:ln w="12700">
            <a:solidFill>
              <a:srgbClr val="FDE7E7">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FG3 is below the overall mean for most traits, consistent with a narrower and more specialist ecological profile.</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4: mean trait z-scores across species for each FG.</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Heatmap of FG Trait Signatures</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The heatmap summarises the same syndromes in a compact pattern-based view.</a:t>
            </a:r>
            <a:endParaRPr lang="en-US" sz="900" dirty="0"/>
          </a:p>
        </p:txBody>
      </p:sp>
      <p:pic>
        <p:nvPicPr>
          <p:cNvPr id="7" name="Image 2" descr="/Users/dingchenchen/lucc/glmmTMB_occurrence_FG_RobustPCAKmeans_FULL_plusTwoWay/01_Exploration_and_FG_Interpretation/Fig5_FG_trait_signatures_heatmap_Zscore.png">    </p:cNvPr>
          <p:cNvPicPr>
            <a:picLocks noChangeAspect="1"/>
          </p:cNvPicPr>
          <p:nvPr/>
        </p:nvPicPr>
        <p:blipFill>
          <a:blip r:embed="rId3"/>
          <a:stretch>
            <a:fillRect/>
          </a:stretch>
        </p:blipFill>
        <p:spPr>
          <a:xfrm>
            <a:off x="411480" y="2146554"/>
            <a:ext cx="7635240" cy="38176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FBEFD8"/>
          </a:solidFill>
          <a:ln w="12700">
            <a:solidFill>
              <a:srgbClr val="FBEFD8">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FBEFD8"/>
          </a:solidFill>
          <a:ln w="12700">
            <a:solidFill>
              <a:srgbClr val="FBEFD8">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The heatmap makes the complementarity among the three strategies very clear.</a:t>
            </a:r>
            <a:endParaRPr lang="en-US" sz="920" dirty="0"/>
          </a:p>
        </p:txBody>
      </p:sp>
      <p:sp>
        <p:nvSpPr>
          <p:cNvPr id="13" name="Shape 8"/>
          <p:cNvSpPr/>
          <p:nvPr/>
        </p:nvSpPr>
        <p:spPr>
          <a:xfrm>
            <a:off x="8394192" y="3026664"/>
            <a:ext cx="73152" cy="73152"/>
          </a:xfrm>
          <a:prstGeom prst="ellipse">
            <a:avLst/>
          </a:prstGeom>
          <a:solidFill>
            <a:srgbClr val="FBEFD8"/>
          </a:solidFill>
          <a:ln w="12700">
            <a:solidFill>
              <a:srgbClr val="FBEFD8">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FG1 is dominated by slow-history traits, FG2 by broad niche and fecundity traits, and FG3 by comparatively low scores across several dimensions.</a:t>
            </a:r>
            <a:endParaRPr lang="en-US" sz="920" dirty="0"/>
          </a:p>
        </p:txBody>
      </p:sp>
      <p:sp>
        <p:nvSpPr>
          <p:cNvPr id="15" name="Shape 10"/>
          <p:cNvSpPr/>
          <p:nvPr/>
        </p:nvSpPr>
        <p:spPr>
          <a:xfrm>
            <a:off x="8394192" y="3529584"/>
            <a:ext cx="73152" cy="73152"/>
          </a:xfrm>
          <a:prstGeom prst="ellipse">
            <a:avLst/>
          </a:prstGeom>
          <a:solidFill>
            <a:srgbClr val="FBEFD8"/>
          </a:solidFill>
          <a:ln w="12700">
            <a:solidFill>
              <a:srgbClr val="FBEFD8">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This gives a concise visual justification for keeping three groups rather than collapsing them into two.</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5: FG trait signatures across all raw traits.</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Three-Way Interaction on the Absolute Probability Scale</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Predicted occurrence probability varies with warming, land-use type, and FG simultaneously.</a:t>
            </a:r>
            <a:endParaRPr lang="en-US" sz="900" dirty="0"/>
          </a:p>
        </p:txBody>
      </p:sp>
      <p:pic>
        <p:nvPicPr>
          <p:cNvPr id="7" name="Image 2" descr="/Users/dingchenchen/lucc/glmmTMB_occurrence_FG_RobustPCAKmeans_FULL_plusTwoWay/03_Plots_ThreeWay_ABS_PCT/Fig1_ThreeWay_ABS_UI2_Temp_FG_glmmTMB_fastCI.png">    </p:cNvPr>
          <p:cNvPicPr>
            <a:picLocks noChangeAspect="1"/>
          </p:cNvPicPr>
          <p:nvPr/>
        </p:nvPicPr>
        <p:blipFill>
          <a:blip r:embed="rId3"/>
          <a:stretch>
            <a:fillRect/>
          </a:stretch>
        </p:blipFill>
        <p:spPr>
          <a:xfrm>
            <a:off x="704215" y="1975104"/>
            <a:ext cx="7049770"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E8F5EE"/>
          </a:solidFill>
          <a:ln w="12700">
            <a:solidFill>
              <a:srgbClr val="E8F5EE">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E8F5EE"/>
          </a:solidFill>
          <a:ln w="12700">
            <a:solidFill>
              <a:srgbClr val="E8F5EE">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The warming-response curve is not the same across land-use types, and it also differs among FG.</a:t>
            </a:r>
            <a:endParaRPr lang="en-US" sz="920" dirty="0"/>
          </a:p>
        </p:txBody>
      </p:sp>
      <p:sp>
        <p:nvSpPr>
          <p:cNvPr id="13" name="Shape 8"/>
          <p:cNvSpPr/>
          <p:nvPr/>
        </p:nvSpPr>
        <p:spPr>
          <a:xfrm>
            <a:off x="8394192" y="3026664"/>
            <a:ext cx="73152" cy="73152"/>
          </a:xfrm>
          <a:prstGeom prst="ellipse">
            <a:avLst/>
          </a:prstGeom>
          <a:solidFill>
            <a:srgbClr val="E8F5EE"/>
          </a:solidFill>
          <a:ln w="12700">
            <a:solidFill>
              <a:srgbClr val="E8F5EE">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FG1 and FG3 show especially strong positive warming responses in urban contexts, while several other combinations are flatter or even slightly negative.</a:t>
            </a:r>
            <a:endParaRPr lang="en-US" sz="920" dirty="0"/>
          </a:p>
        </p:txBody>
      </p:sp>
      <p:sp>
        <p:nvSpPr>
          <p:cNvPr id="15" name="Shape 10"/>
          <p:cNvSpPr/>
          <p:nvPr/>
        </p:nvSpPr>
        <p:spPr>
          <a:xfrm>
            <a:off x="8394192" y="3529584"/>
            <a:ext cx="73152" cy="73152"/>
          </a:xfrm>
          <a:prstGeom prst="ellipse">
            <a:avLst/>
          </a:prstGeom>
          <a:solidFill>
            <a:srgbClr val="E8F5EE"/>
          </a:solidFill>
          <a:ln w="12700">
            <a:solidFill>
              <a:srgbClr val="E8F5EE">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This supports a heterogeneous three-way interaction between land use, warming, and functional strategy.</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1: three-way interaction on the absolute occurrence scale.</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Three-Way Interaction Relative to the Primary-Vegetation Baseline</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Relative change highlights how warming sensitivity depends on both ecological strategy and disturbance context.</a:t>
            </a:r>
            <a:endParaRPr lang="en-US" sz="900" dirty="0"/>
          </a:p>
        </p:txBody>
      </p:sp>
      <p:pic>
        <p:nvPicPr>
          <p:cNvPr id="7" name="Image 2" descr="/Users/dingchenchen/lucc/glmmTMB_occurrence_FG_RobustPCAKmeans_FULL_plusTwoWay/03_Plots_ThreeWay_ABS_PCT/Fig2_ThreeWay_PCT_vsPV0_UI2_Temp_FG_glmmTMB_fastCI.png">    </p:cNvPr>
          <p:cNvPicPr>
            <a:picLocks noChangeAspect="1"/>
          </p:cNvPicPr>
          <p:nvPr/>
        </p:nvPicPr>
        <p:blipFill>
          <a:blip r:embed="rId3"/>
          <a:stretch>
            <a:fillRect/>
          </a:stretch>
        </p:blipFill>
        <p:spPr>
          <a:xfrm>
            <a:off x="704215" y="1975104"/>
            <a:ext cx="7049770"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F7EAFE"/>
          </a:solidFill>
          <a:ln w="12700">
            <a:solidFill>
              <a:srgbClr val="F7EAFE">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F7EAFE"/>
          </a:solidFill>
          <a:ln w="12700">
            <a:solidFill>
              <a:srgbClr val="F7EAFE">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Relative change from the baseline differs strongly among both FG and land-use contexts.</a:t>
            </a:r>
            <a:endParaRPr lang="en-US" sz="920" dirty="0"/>
          </a:p>
        </p:txBody>
      </p:sp>
      <p:sp>
        <p:nvSpPr>
          <p:cNvPr id="13" name="Shape 8"/>
          <p:cNvSpPr/>
          <p:nvPr/>
        </p:nvSpPr>
        <p:spPr>
          <a:xfrm>
            <a:off x="8394192" y="3026664"/>
            <a:ext cx="73152" cy="73152"/>
          </a:xfrm>
          <a:prstGeom prst="ellipse">
            <a:avLst/>
          </a:prstGeom>
          <a:solidFill>
            <a:srgbClr val="F7EAFE"/>
          </a:solidFill>
          <a:ln w="12700">
            <a:solidFill>
              <a:srgbClr val="F7EAFE">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This view makes it easier to compare sensitivity, because all panels are anchored to the same reference condition.</a:t>
            </a:r>
            <a:endParaRPr lang="en-US" sz="920" dirty="0"/>
          </a:p>
        </p:txBody>
      </p:sp>
      <p:sp>
        <p:nvSpPr>
          <p:cNvPr id="15" name="Shape 10"/>
          <p:cNvSpPr/>
          <p:nvPr/>
        </p:nvSpPr>
        <p:spPr>
          <a:xfrm>
            <a:off x="8394192" y="3529584"/>
            <a:ext cx="73152" cy="73152"/>
          </a:xfrm>
          <a:prstGeom prst="ellipse">
            <a:avLst/>
          </a:prstGeom>
          <a:solidFill>
            <a:srgbClr val="F7EAFE"/>
          </a:solidFill>
          <a:ln w="12700">
            <a:solidFill>
              <a:srgbClr val="F7EAFE">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The main message remains the same: warming sensitivity is conditional on both functional strategy and land-use background.</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2: three-way interaction as percent change relative to the baseline.</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Two-Way Summary: Land Use by Warming</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Averaging over FG still leaves clear land-use differences in baseline occurrence and warming-response shape.</a:t>
            </a:r>
            <a:endParaRPr lang="en-US" sz="900" dirty="0"/>
          </a:p>
        </p:txBody>
      </p:sp>
      <p:pic>
        <p:nvPicPr>
          <p:cNvPr id="7" name="Image 2" descr="/Users/dingchenchen/lucc/glmmTMB_occurrence_FG_RobustPCAKmeans_FULL_plusTwoWay/04_Plots_TwoWay_PaperGrade/Fig6_TwoWay_UI2_by_Warming_FGaveraged_ABS_glmmTMB_fastCI.png">    </p:cNvPr>
          <p:cNvPicPr>
            <a:picLocks noChangeAspect="1"/>
          </p:cNvPicPr>
          <p:nvPr/>
        </p:nvPicPr>
        <p:blipFill>
          <a:blip r:embed="rId3"/>
          <a:stretch>
            <a:fillRect/>
          </a:stretch>
        </p:blipFill>
        <p:spPr>
          <a:xfrm>
            <a:off x="888076" y="1975104"/>
            <a:ext cx="6682047"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EAF7F3"/>
          </a:solidFill>
          <a:ln w="12700">
            <a:solidFill>
              <a:srgbClr val="EAF7F3">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EAF7F3"/>
          </a:solidFill>
          <a:ln w="12700">
            <a:solidFill>
              <a:srgbClr val="EAF7F3">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Even after averaging over FG, land-use types still differ in both baseline occurrence and response shape.</a:t>
            </a:r>
            <a:endParaRPr lang="en-US" sz="920" dirty="0"/>
          </a:p>
        </p:txBody>
      </p:sp>
      <p:sp>
        <p:nvSpPr>
          <p:cNvPr id="13" name="Shape 8"/>
          <p:cNvSpPr/>
          <p:nvPr/>
        </p:nvSpPr>
        <p:spPr>
          <a:xfrm>
            <a:off x="8394192" y="3026664"/>
            <a:ext cx="73152" cy="73152"/>
          </a:xfrm>
          <a:prstGeom prst="ellipse">
            <a:avLst/>
          </a:prstGeom>
          <a:solidFill>
            <a:srgbClr val="EAF7F3"/>
          </a:solidFill>
          <a:ln w="12700">
            <a:solidFill>
              <a:srgbClr val="EAF7F3">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This means land use has an overall filtering effect that is not explained away by FG composition alone.</a:t>
            </a:r>
            <a:endParaRPr lang="en-US" sz="920" dirty="0"/>
          </a:p>
        </p:txBody>
      </p:sp>
      <p:sp>
        <p:nvSpPr>
          <p:cNvPr id="15" name="Shape 10"/>
          <p:cNvSpPr/>
          <p:nvPr/>
        </p:nvSpPr>
        <p:spPr>
          <a:xfrm>
            <a:off x="8394192" y="3529584"/>
            <a:ext cx="73152" cy="73152"/>
          </a:xfrm>
          <a:prstGeom prst="ellipse">
            <a:avLst/>
          </a:prstGeom>
          <a:solidFill>
            <a:srgbClr val="EAF7F3"/>
          </a:solidFill>
          <a:ln w="12700">
            <a:solidFill>
              <a:srgbClr val="EAF7F3">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Agricultural and urban settings remain especially informative when comparing warming trajectories.</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6: land use by warming after averaging across FG composition.</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Two-Way Summary: FG by Warming</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Averaging over land-use composition still preserves clear strategy-specific warming trajectories.</a:t>
            </a:r>
            <a:endParaRPr lang="en-US" sz="900" dirty="0"/>
          </a:p>
        </p:txBody>
      </p:sp>
      <p:pic>
        <p:nvPicPr>
          <p:cNvPr id="7" name="Image 2" descr="/Users/dingchenchen/lucc/glmmTMB_occurrence_FG_RobustPCAKmeans_FULL_plusTwoWay/04_Plots_TwoWay_PaperGrade/Fig7_TwoWay_FG_by_Warming_UI2averaged_ABS_glmmTMB_fastCI.png">    </p:cNvPr>
          <p:cNvPicPr>
            <a:picLocks noChangeAspect="1"/>
          </p:cNvPicPr>
          <p:nvPr/>
        </p:nvPicPr>
        <p:blipFill>
          <a:blip r:embed="rId3"/>
          <a:stretch>
            <a:fillRect/>
          </a:stretch>
        </p:blipFill>
        <p:spPr>
          <a:xfrm>
            <a:off x="888076" y="1975104"/>
            <a:ext cx="6682047" cy="416052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EAF0FF"/>
          </a:solidFill>
          <a:ln w="12700">
            <a:solidFill>
              <a:srgbClr val="EAF0FF">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EAF0FF"/>
          </a:solidFill>
          <a:ln w="12700">
            <a:solidFill>
              <a:srgbClr val="EAF0FF">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FG retain different warming-response trajectories after averaging across land-use types.</a:t>
            </a:r>
            <a:endParaRPr lang="en-US" sz="920" dirty="0"/>
          </a:p>
        </p:txBody>
      </p:sp>
      <p:sp>
        <p:nvSpPr>
          <p:cNvPr id="13" name="Shape 8"/>
          <p:cNvSpPr/>
          <p:nvPr/>
        </p:nvSpPr>
        <p:spPr>
          <a:xfrm>
            <a:off x="8394192" y="3026664"/>
            <a:ext cx="73152" cy="73152"/>
          </a:xfrm>
          <a:prstGeom prst="ellipse">
            <a:avLst/>
          </a:prstGeom>
          <a:solidFill>
            <a:srgbClr val="EAF0FF"/>
          </a:solidFill>
          <a:ln w="12700">
            <a:solidFill>
              <a:srgbClr val="EAF0FF">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This shows that the FG scheme captures real biological heterogeneity in climate sensitivity.</a:t>
            </a:r>
            <a:endParaRPr lang="en-US" sz="920" dirty="0"/>
          </a:p>
        </p:txBody>
      </p:sp>
      <p:sp>
        <p:nvSpPr>
          <p:cNvPr id="15" name="Shape 10"/>
          <p:cNvSpPr/>
          <p:nvPr/>
        </p:nvSpPr>
        <p:spPr>
          <a:xfrm>
            <a:off x="8394192" y="3529584"/>
            <a:ext cx="73152" cy="73152"/>
          </a:xfrm>
          <a:prstGeom prst="ellipse">
            <a:avLst/>
          </a:prstGeom>
          <a:solidFill>
            <a:srgbClr val="EAF0FF"/>
          </a:solidFill>
          <a:ln w="12700">
            <a:solidFill>
              <a:srgbClr val="EAF0FF">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FG3 and FG1 are more temperature-responsive overall than FG2 in the averaged view.</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7: FG by warming after averaging across land-use composition.</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Two-Way Summary at Fixed Warming Levels</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Within each temperature panel, FG1, FG2, and FG3 can now be compared directly across land-use types.</a:t>
            </a:r>
            <a:endParaRPr lang="en-US" sz="900" dirty="0"/>
          </a:p>
        </p:txBody>
      </p:sp>
      <p:pic>
        <p:nvPicPr>
          <p:cNvPr id="7" name="Image 2" descr="/Users/dingchenchen/lucc/glmmTMB_occurrence_FG_RobustPCAKmeans_FULL_plusTwoWay/04_Plots_TwoWay_PaperGrade/Fig8_TwoWay_UI2_by_FG_at_fixedWarming_ABS_glmmTMB_fastCI.png">    </p:cNvPr>
          <p:cNvPicPr>
            <a:picLocks noChangeAspect="1"/>
          </p:cNvPicPr>
          <p:nvPr/>
        </p:nvPicPr>
        <p:blipFill>
          <a:blip r:embed="rId3"/>
          <a:stretch>
            <a:fillRect/>
          </a:stretch>
        </p:blipFill>
        <p:spPr>
          <a:xfrm>
            <a:off x="411480" y="2303014"/>
            <a:ext cx="7635240" cy="3504700"/>
          </a:xfrm>
          <a:prstGeom prst="rect">
            <a:avLst/>
          </a:prstGeom>
        </p:spPr>
      </p:pic>
      <p:sp>
        <p:nvSpPr>
          <p:cNvPr id="8" name="Shape 3"/>
          <p:cNvSpPr/>
          <p:nvPr/>
        </p:nvSpPr>
        <p:spPr>
          <a:xfrm>
            <a:off x="8229600" y="1993392"/>
            <a:ext cx="3520440" cy="4133088"/>
          </a:xfrm>
          <a:prstGeom prst="roundRect">
            <a:avLst>
              <a:gd name="adj" fmla="val 2078"/>
            </a:avLst>
          </a:prstGeom>
          <a:solidFill>
            <a:srgbClr val="F8FBFA"/>
          </a:solidFill>
          <a:ln w="12700">
            <a:solidFill>
              <a:srgbClr val="CFE3DD"/>
            </a:solidFill>
            <a:prstDash val="solid"/>
          </a:ln>
        </p:spPr>
      </p:sp>
      <p:sp>
        <p:nvSpPr>
          <p:cNvPr id="9" name="Shape 4"/>
          <p:cNvSpPr/>
          <p:nvPr/>
        </p:nvSpPr>
        <p:spPr>
          <a:xfrm>
            <a:off x="8229600" y="1993392"/>
            <a:ext cx="3520440" cy="329184"/>
          </a:xfrm>
          <a:prstGeom prst="rect">
            <a:avLst/>
          </a:prstGeom>
          <a:solidFill>
            <a:srgbClr val="FFF0E6"/>
          </a:solidFill>
          <a:ln w="12700">
            <a:solidFill>
              <a:srgbClr val="FFF0E6">
                <a:alpha val="0"/>
              </a:srgbClr>
            </a:solidFill>
            <a:prstDash val="solid"/>
          </a:ln>
        </p:spPr>
      </p:sp>
      <p:sp>
        <p:nvSpPr>
          <p:cNvPr id="10" name="Text 5"/>
          <p:cNvSpPr/>
          <p:nvPr/>
        </p:nvSpPr>
        <p:spPr>
          <a:xfrm>
            <a:off x="8394192" y="2066544"/>
            <a:ext cx="3191256" cy="164592"/>
          </a:xfrm>
          <a:prstGeom prst="rect">
            <a:avLst/>
          </a:prstGeom>
          <a:noFill/>
          <a:ln/>
        </p:spPr>
        <p:txBody>
          <a:bodyPr wrap="square" lIns="0" tIns="0" rIns="0" bIns="0" rtlCol="0" anchor="ctr"/>
          <a:lstStyle/>
          <a:p>
            <a:pPr indent="0" marL="0">
              <a:buNone/>
            </a:pPr>
            <a:r>
              <a:rPr lang="en-US" sz="1100" b="1" dirty="0">
                <a:solidFill>
                  <a:srgbClr val="2D2D2D"/>
                </a:solidFill>
              </a:rPr>
              <a:t>Key Points</a:t>
            </a:r>
            <a:endParaRPr lang="en-US" sz="1100" dirty="0"/>
          </a:p>
        </p:txBody>
      </p:sp>
      <p:sp>
        <p:nvSpPr>
          <p:cNvPr id="11" name="Shape 6"/>
          <p:cNvSpPr/>
          <p:nvPr/>
        </p:nvSpPr>
        <p:spPr>
          <a:xfrm>
            <a:off x="8394192" y="2523744"/>
            <a:ext cx="73152" cy="73152"/>
          </a:xfrm>
          <a:prstGeom prst="ellipse">
            <a:avLst/>
          </a:prstGeom>
          <a:solidFill>
            <a:srgbClr val="FFF0E6"/>
          </a:solidFill>
          <a:ln w="12700">
            <a:solidFill>
              <a:srgbClr val="FFF0E6">
                <a:alpha val="0"/>
              </a:srgbClr>
            </a:solidFill>
            <a:prstDash val="solid"/>
          </a:ln>
        </p:spPr>
      </p:sp>
      <p:sp>
        <p:nvSpPr>
          <p:cNvPr id="12" name="Text 7"/>
          <p:cNvSpPr/>
          <p:nvPr/>
        </p:nvSpPr>
        <p:spPr>
          <a:xfrm>
            <a:off x="8522208" y="2468880"/>
            <a:ext cx="3081528" cy="420624"/>
          </a:xfrm>
          <a:prstGeom prst="rect">
            <a:avLst/>
          </a:prstGeom>
          <a:noFill/>
          <a:ln/>
        </p:spPr>
        <p:txBody>
          <a:bodyPr wrap="square" lIns="0" tIns="0" rIns="0" bIns="0" rtlCol="0" anchor="t"/>
          <a:lstStyle/>
          <a:p>
            <a:pPr indent="0" marL="0">
              <a:buNone/>
            </a:pPr>
            <a:r>
              <a:rPr lang="en-US" sz="920" dirty="0">
                <a:solidFill>
                  <a:srgbClr val="2D2D2D"/>
                </a:solidFill>
              </a:rPr>
              <a:t>Each panel now shows all three FG under the same fixed temperature condition, which is the correct comparison for this figure.</a:t>
            </a:r>
            <a:endParaRPr lang="en-US" sz="920" dirty="0"/>
          </a:p>
        </p:txBody>
      </p:sp>
      <p:sp>
        <p:nvSpPr>
          <p:cNvPr id="13" name="Shape 8"/>
          <p:cNvSpPr/>
          <p:nvPr/>
        </p:nvSpPr>
        <p:spPr>
          <a:xfrm>
            <a:off x="8394192" y="3026664"/>
            <a:ext cx="73152" cy="73152"/>
          </a:xfrm>
          <a:prstGeom prst="ellipse">
            <a:avLst/>
          </a:prstGeom>
          <a:solidFill>
            <a:srgbClr val="FFF0E6"/>
          </a:solidFill>
          <a:ln w="12700">
            <a:solidFill>
              <a:srgbClr val="FFF0E6">
                <a:alpha val="0"/>
              </a:srgbClr>
            </a:solidFill>
            <a:prstDash val="solid"/>
          </a:ln>
        </p:spPr>
      </p:sp>
      <p:sp>
        <p:nvSpPr>
          <p:cNvPr id="14" name="Text 9"/>
          <p:cNvSpPr/>
          <p:nvPr/>
        </p:nvSpPr>
        <p:spPr>
          <a:xfrm>
            <a:off x="8522208" y="2971800"/>
            <a:ext cx="3081528" cy="420624"/>
          </a:xfrm>
          <a:prstGeom prst="rect">
            <a:avLst/>
          </a:prstGeom>
          <a:noFill/>
          <a:ln/>
        </p:spPr>
        <p:txBody>
          <a:bodyPr wrap="square" lIns="0" tIns="0" rIns="0" bIns="0" rtlCol="0" anchor="t"/>
          <a:lstStyle/>
          <a:p>
            <a:pPr indent="0" marL="0">
              <a:buNone/>
            </a:pPr>
            <a:r>
              <a:rPr lang="en-US" sz="920" dirty="0">
                <a:solidFill>
                  <a:srgbClr val="2D2D2D"/>
                </a:solidFill>
              </a:rPr>
              <a:t>The rank order among FG changes with land-use type, especially under stronger warming.</a:t>
            </a:r>
            <a:endParaRPr lang="en-US" sz="920" dirty="0"/>
          </a:p>
        </p:txBody>
      </p:sp>
      <p:sp>
        <p:nvSpPr>
          <p:cNvPr id="15" name="Shape 10"/>
          <p:cNvSpPr/>
          <p:nvPr/>
        </p:nvSpPr>
        <p:spPr>
          <a:xfrm>
            <a:off x="8394192" y="3529584"/>
            <a:ext cx="73152" cy="73152"/>
          </a:xfrm>
          <a:prstGeom prst="ellipse">
            <a:avLst/>
          </a:prstGeom>
          <a:solidFill>
            <a:srgbClr val="FFF0E6"/>
          </a:solidFill>
          <a:ln w="12700">
            <a:solidFill>
              <a:srgbClr val="FFF0E6">
                <a:alpha val="0"/>
              </a:srgbClr>
            </a:solidFill>
            <a:prstDash val="solid"/>
          </a:ln>
        </p:spPr>
      </p:sp>
      <p:sp>
        <p:nvSpPr>
          <p:cNvPr id="16" name="Text 11"/>
          <p:cNvSpPr/>
          <p:nvPr/>
        </p:nvSpPr>
        <p:spPr>
          <a:xfrm>
            <a:off x="8522208" y="3474720"/>
            <a:ext cx="3081528" cy="420624"/>
          </a:xfrm>
          <a:prstGeom prst="rect">
            <a:avLst/>
          </a:prstGeom>
          <a:noFill/>
          <a:ln/>
        </p:spPr>
        <p:txBody>
          <a:bodyPr wrap="square" lIns="0" tIns="0" rIns="0" bIns="0" rtlCol="0" anchor="t"/>
          <a:lstStyle/>
          <a:p>
            <a:pPr indent="0" marL="0">
              <a:buNone/>
            </a:pPr>
            <a:r>
              <a:rPr lang="en-US" sz="920" dirty="0">
                <a:solidFill>
                  <a:srgbClr val="2D2D2D"/>
                </a:solidFill>
              </a:rPr>
              <a:t>This indicates that land-use filtering and functional strategy interact directly in shaping occurrence probability.</a:t>
            </a:r>
            <a:endParaRPr lang="en-US" sz="920" dirty="0"/>
          </a:p>
        </p:txBody>
      </p:sp>
      <p:sp>
        <p:nvSpPr>
          <p:cNvPr id="17" name="Text 12"/>
          <p:cNvSpPr/>
          <p:nvPr/>
        </p:nvSpPr>
        <p:spPr>
          <a:xfrm>
            <a:off x="438912" y="6245352"/>
            <a:ext cx="7589520" cy="164592"/>
          </a:xfrm>
          <a:prstGeom prst="rect">
            <a:avLst/>
          </a:prstGeom>
          <a:noFill/>
          <a:ln/>
        </p:spPr>
        <p:txBody>
          <a:bodyPr wrap="square" lIns="0" tIns="0" rIns="0" bIns="0" rtlCol="0" anchor="ctr"/>
          <a:lstStyle/>
          <a:p>
            <a:pPr indent="0" marL="0">
              <a:buNone/>
            </a:pPr>
            <a:r>
              <a:rPr lang="en-US" sz="800" i="1" dirty="0">
                <a:solidFill>
                  <a:srgbClr val="6A6A6A"/>
                </a:solidFill>
              </a:rPr>
              <a:t>Figure 8: land use by FG at fixed warming levels.</a:t>
            </a:r>
            <a:endParaRPr lang="en-US" sz="800" dirty="0"/>
          </a:p>
        </p:txBody>
      </p:sp>
      <p:sp>
        <p:nvSpPr>
          <p:cNvPr id="19" name="Text 13"/>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dingchenchen/lucc/.ppt_task_fg_summary/ref_media/image1.png">    </p:cNvPr>
          <p:cNvPicPr>
            <a:picLocks noChangeAspect="1"/>
          </p:cNvPicPr>
          <p:nvPr/>
        </p:nvPicPr>
        <p:blipFill>
          <a:blip r:embed="rId1"/>
          <a:stretch>
            <a:fillRect/>
          </a:stretch>
        </p:blipFill>
        <p:spPr>
          <a:xfrm>
            <a:off x="45720" y="45720"/>
            <a:ext cx="2057400" cy="576072"/>
          </a:xfrm>
          <a:prstGeom prst="rect">
            <a:avLst/>
          </a:prstGeom>
        </p:spPr>
      </p:pic>
      <p:pic>
        <p:nvPicPr>
          <p:cNvPr id="3" name="Image 1" descr="/Users/dingchenchen/lucc/.ppt_task_fg_summary/ref_media/image2.png">    </p:cNvPr>
          <p:cNvPicPr>
            <a:picLocks noChangeAspect="1"/>
          </p:cNvPicPr>
          <p:nvPr/>
        </p:nvPicPr>
        <p:blipFill>
          <a:blip r:embed="rId2"/>
          <a:stretch>
            <a:fillRect/>
          </a:stretch>
        </p:blipFill>
        <p:spPr>
          <a:xfrm>
            <a:off x="9784080" y="45720"/>
            <a:ext cx="1965960" cy="530352"/>
          </a:xfrm>
          <a:prstGeom prst="rect">
            <a:avLst/>
          </a:prstGeom>
        </p:spPr>
      </p:pic>
      <p:sp>
        <p:nvSpPr>
          <p:cNvPr id="4" name="Shape 0"/>
          <p:cNvSpPr/>
          <p:nvPr/>
        </p:nvSpPr>
        <p:spPr>
          <a:xfrm>
            <a:off x="0" y="786384"/>
            <a:ext cx="12191695" cy="384048"/>
          </a:xfrm>
          <a:prstGeom prst="rect">
            <a:avLst/>
          </a:prstGeom>
          <a:solidFill>
            <a:srgbClr val="D8F1EA"/>
          </a:solidFill>
          <a:ln w="12700">
            <a:solidFill>
              <a:srgbClr val="D8F1EA">
                <a:alpha val="0"/>
              </a:srgbClr>
            </a:solidFill>
            <a:prstDash val="solid"/>
          </a:ln>
        </p:spPr>
      </p:sp>
      <p:sp>
        <p:nvSpPr>
          <p:cNvPr id="5" name="Text 1"/>
          <p:cNvSpPr/>
          <p:nvPr/>
        </p:nvSpPr>
        <p:spPr>
          <a:xfrm>
            <a:off x="475488" y="1243584"/>
            <a:ext cx="11064240" cy="274320"/>
          </a:xfrm>
          <a:prstGeom prst="rect">
            <a:avLst/>
          </a:prstGeom>
          <a:noFill/>
          <a:ln/>
        </p:spPr>
        <p:txBody>
          <a:bodyPr wrap="square" lIns="0" tIns="0" rIns="0" bIns="0" rtlCol="0" anchor="ctr"/>
          <a:lstStyle/>
          <a:p>
            <a:pPr indent="0" marL="0">
              <a:buNone/>
            </a:pPr>
            <a:r>
              <a:rPr lang="en-US" sz="1900" b="1" dirty="0">
                <a:solidFill>
                  <a:srgbClr val="2D2D2D"/>
                </a:solidFill>
                <a:latin typeface="Aptos Display" pitchFamily="34" charset="0"/>
                <a:ea typeface="Aptos Display" pitchFamily="34" charset="-122"/>
                <a:cs typeface="Aptos Display" pitchFamily="34" charset="-120"/>
              </a:rPr>
              <a:t>Take-Home Messages</a:t>
            </a:r>
            <a:endParaRPr lang="en-US" sz="1900" dirty="0"/>
          </a:p>
        </p:txBody>
      </p:sp>
      <p:sp>
        <p:nvSpPr>
          <p:cNvPr id="6" name="Text 2"/>
          <p:cNvSpPr/>
          <p:nvPr/>
        </p:nvSpPr>
        <p:spPr>
          <a:xfrm>
            <a:off x="475488" y="1609344"/>
            <a:ext cx="10972800" cy="164592"/>
          </a:xfrm>
          <a:prstGeom prst="rect">
            <a:avLst/>
          </a:prstGeom>
          <a:noFill/>
          <a:ln/>
        </p:spPr>
        <p:txBody>
          <a:bodyPr wrap="square" lIns="0" tIns="0" rIns="0" bIns="0" rtlCol="0" anchor="ctr"/>
          <a:lstStyle/>
          <a:p>
            <a:pPr indent="0" marL="0">
              <a:buNone/>
            </a:pPr>
            <a:r>
              <a:rPr lang="en-US" sz="900" dirty="0">
                <a:solidFill>
                  <a:srgbClr val="6A6A6A"/>
                </a:solidFill>
                <a:latin typeface="Aptos" pitchFamily="34" charset="0"/>
                <a:ea typeface="Aptos" pitchFamily="34" charset="-122"/>
                <a:cs typeface="Aptos" pitchFamily="34" charset="-120"/>
              </a:rPr>
              <a:t>What this revised FG analysis contributes to the third scientific question.</a:t>
            </a:r>
            <a:endParaRPr lang="en-US" sz="900" dirty="0"/>
          </a:p>
        </p:txBody>
      </p:sp>
      <p:sp>
        <p:nvSpPr>
          <p:cNvPr id="7" name="Shape 3"/>
          <p:cNvSpPr/>
          <p:nvPr/>
        </p:nvSpPr>
        <p:spPr>
          <a:xfrm>
            <a:off x="658368" y="1993392"/>
            <a:ext cx="3337560" cy="2240280"/>
          </a:xfrm>
          <a:prstGeom prst="roundRect">
            <a:avLst>
              <a:gd name="adj" fmla="val 3265"/>
            </a:avLst>
          </a:prstGeom>
          <a:solidFill>
            <a:srgbClr val="EAF7F3"/>
          </a:solidFill>
          <a:ln w="12700">
            <a:solidFill>
              <a:srgbClr val="D7DFDB"/>
            </a:solidFill>
            <a:prstDash val="solid"/>
          </a:ln>
        </p:spPr>
      </p:sp>
      <p:sp>
        <p:nvSpPr>
          <p:cNvPr id="8" name="Text 4"/>
          <p:cNvSpPr/>
          <p:nvPr/>
        </p:nvSpPr>
        <p:spPr>
          <a:xfrm>
            <a:off x="841248" y="2194560"/>
            <a:ext cx="2880360" cy="182880"/>
          </a:xfrm>
          <a:prstGeom prst="rect">
            <a:avLst/>
          </a:prstGeom>
          <a:noFill/>
          <a:ln/>
        </p:spPr>
        <p:txBody>
          <a:bodyPr wrap="square" lIns="0" tIns="0" rIns="0" bIns="0" rtlCol="0" anchor="ctr"/>
          <a:lstStyle/>
          <a:p>
            <a:pPr indent="0" marL="0">
              <a:buNone/>
            </a:pPr>
            <a:r>
              <a:rPr lang="en-US" sz="1300" b="1" dirty="0">
                <a:solidFill>
                  <a:srgbClr val="2D2D2D"/>
                </a:solidFill>
              </a:rPr>
              <a:t>Methodological conclusion</a:t>
            </a:r>
            <a:endParaRPr lang="en-US" sz="1300" dirty="0"/>
          </a:p>
        </p:txBody>
      </p:sp>
      <p:sp>
        <p:nvSpPr>
          <p:cNvPr id="9" name="Text 5"/>
          <p:cNvSpPr/>
          <p:nvPr/>
        </p:nvSpPr>
        <p:spPr>
          <a:xfrm>
            <a:off x="841248" y="2587752"/>
            <a:ext cx="2834640" cy="1234440"/>
          </a:xfrm>
          <a:prstGeom prst="rect">
            <a:avLst/>
          </a:prstGeom>
          <a:noFill/>
          <a:ln/>
        </p:spPr>
        <p:txBody>
          <a:bodyPr wrap="square" lIns="0" tIns="0" rIns="0" bIns="0" rtlCol="0" anchor="t"/>
          <a:lstStyle/>
          <a:p>
            <a:pPr indent="0" marL="0">
              <a:buNone/>
            </a:pPr>
            <a:r>
              <a:rPr lang="en-US" sz="1000" dirty="0">
                <a:solidFill>
                  <a:srgbClr val="2D2D2D"/>
                </a:solidFill>
              </a:rPr>
              <a:t>A robust PCA-plus-stability workflow provides a more defensible FG scheme than earlier unstable similarity-based groupings.</a:t>
            </a:r>
            <a:endParaRPr lang="en-US" sz="1000" dirty="0"/>
          </a:p>
        </p:txBody>
      </p:sp>
      <p:sp>
        <p:nvSpPr>
          <p:cNvPr id="10" name="Shape 6"/>
          <p:cNvSpPr/>
          <p:nvPr/>
        </p:nvSpPr>
        <p:spPr>
          <a:xfrm>
            <a:off x="4453128" y="1993392"/>
            <a:ext cx="3337560" cy="2240280"/>
          </a:xfrm>
          <a:prstGeom prst="roundRect">
            <a:avLst>
              <a:gd name="adj" fmla="val 3265"/>
            </a:avLst>
          </a:prstGeom>
          <a:solidFill>
            <a:srgbClr val="EEF4FB"/>
          </a:solidFill>
          <a:ln w="12700">
            <a:solidFill>
              <a:srgbClr val="D7DFDB"/>
            </a:solidFill>
            <a:prstDash val="solid"/>
          </a:ln>
        </p:spPr>
      </p:sp>
      <p:sp>
        <p:nvSpPr>
          <p:cNvPr id="11" name="Text 7"/>
          <p:cNvSpPr/>
          <p:nvPr/>
        </p:nvSpPr>
        <p:spPr>
          <a:xfrm>
            <a:off x="4636008" y="2194560"/>
            <a:ext cx="2880360" cy="182880"/>
          </a:xfrm>
          <a:prstGeom prst="rect">
            <a:avLst/>
          </a:prstGeom>
          <a:noFill/>
          <a:ln/>
        </p:spPr>
        <p:txBody>
          <a:bodyPr wrap="square" lIns="0" tIns="0" rIns="0" bIns="0" rtlCol="0" anchor="ctr"/>
          <a:lstStyle/>
          <a:p>
            <a:pPr indent="0" marL="0">
              <a:buNone/>
            </a:pPr>
            <a:r>
              <a:rPr lang="en-US" sz="1300" b="1" dirty="0">
                <a:solidFill>
                  <a:srgbClr val="2D2D2D"/>
                </a:solidFill>
              </a:rPr>
              <a:t>Ecological conclusion</a:t>
            </a:r>
            <a:endParaRPr lang="en-US" sz="1300" dirty="0"/>
          </a:p>
        </p:txBody>
      </p:sp>
      <p:sp>
        <p:nvSpPr>
          <p:cNvPr id="12" name="Text 8"/>
          <p:cNvSpPr/>
          <p:nvPr/>
        </p:nvSpPr>
        <p:spPr>
          <a:xfrm>
            <a:off x="4636008" y="2587752"/>
            <a:ext cx="2834640" cy="1234440"/>
          </a:xfrm>
          <a:prstGeom prst="rect">
            <a:avLst/>
          </a:prstGeom>
          <a:noFill/>
          <a:ln/>
        </p:spPr>
        <p:txBody>
          <a:bodyPr wrap="square" lIns="0" tIns="0" rIns="0" bIns="0" rtlCol="0" anchor="t"/>
          <a:lstStyle/>
          <a:p>
            <a:pPr indent="0" marL="0">
              <a:buNone/>
            </a:pPr>
            <a:r>
              <a:rPr lang="en-US" sz="1000" dirty="0">
                <a:solidFill>
                  <a:srgbClr val="2D2D2D"/>
                </a:solidFill>
              </a:rPr>
              <a:t>The three FG correspond to interpretable trait syndromes: slow-history/high-dispersal, broad-niche/high-fecundity, and range-restricted/specialist strategies.</a:t>
            </a:r>
            <a:endParaRPr lang="en-US" sz="1000" dirty="0"/>
          </a:p>
        </p:txBody>
      </p:sp>
      <p:sp>
        <p:nvSpPr>
          <p:cNvPr id="13" name="Shape 9"/>
          <p:cNvSpPr/>
          <p:nvPr/>
        </p:nvSpPr>
        <p:spPr>
          <a:xfrm>
            <a:off x="8247888" y="1993392"/>
            <a:ext cx="3337560" cy="2240280"/>
          </a:xfrm>
          <a:prstGeom prst="roundRect">
            <a:avLst>
              <a:gd name="adj" fmla="val 3265"/>
            </a:avLst>
          </a:prstGeom>
          <a:solidFill>
            <a:srgbClr val="FFF4E8"/>
          </a:solidFill>
          <a:ln w="12700">
            <a:solidFill>
              <a:srgbClr val="D7DFDB"/>
            </a:solidFill>
            <a:prstDash val="solid"/>
          </a:ln>
        </p:spPr>
      </p:sp>
      <p:sp>
        <p:nvSpPr>
          <p:cNvPr id="14" name="Text 10"/>
          <p:cNvSpPr/>
          <p:nvPr/>
        </p:nvSpPr>
        <p:spPr>
          <a:xfrm>
            <a:off x="8430768" y="2194560"/>
            <a:ext cx="2880360" cy="182880"/>
          </a:xfrm>
          <a:prstGeom prst="rect">
            <a:avLst/>
          </a:prstGeom>
          <a:noFill/>
          <a:ln/>
        </p:spPr>
        <p:txBody>
          <a:bodyPr wrap="square" lIns="0" tIns="0" rIns="0" bIns="0" rtlCol="0" anchor="ctr"/>
          <a:lstStyle/>
          <a:p>
            <a:pPr indent="0" marL="0">
              <a:buNone/>
            </a:pPr>
            <a:r>
              <a:rPr lang="en-US" sz="1300" b="1" dirty="0">
                <a:solidFill>
                  <a:srgbClr val="2D2D2D"/>
                </a:solidFill>
              </a:rPr>
              <a:t>Interaction conclusion</a:t>
            </a:r>
            <a:endParaRPr lang="en-US" sz="1300" dirty="0"/>
          </a:p>
        </p:txBody>
      </p:sp>
      <p:sp>
        <p:nvSpPr>
          <p:cNvPr id="15" name="Text 11"/>
          <p:cNvSpPr/>
          <p:nvPr/>
        </p:nvSpPr>
        <p:spPr>
          <a:xfrm>
            <a:off x="8430768" y="2587752"/>
            <a:ext cx="2834640" cy="1234440"/>
          </a:xfrm>
          <a:prstGeom prst="rect">
            <a:avLst/>
          </a:prstGeom>
          <a:noFill/>
          <a:ln/>
        </p:spPr>
        <p:txBody>
          <a:bodyPr wrap="square" lIns="0" tIns="0" rIns="0" bIns="0" rtlCol="0" anchor="t"/>
          <a:lstStyle/>
          <a:p>
            <a:pPr indent="0" marL="0">
              <a:buNone/>
            </a:pPr>
            <a:r>
              <a:rPr lang="en-US" sz="1000" dirty="0">
                <a:solidFill>
                  <a:srgbClr val="2D2D2D"/>
                </a:solidFill>
              </a:rPr>
              <a:t>Occurrence responses to warming are conditional on both land-use context and functional strategy, supporting the core RQ3 hypothesis.</a:t>
            </a:r>
            <a:endParaRPr lang="en-US" sz="1000" dirty="0"/>
          </a:p>
        </p:txBody>
      </p:sp>
      <p:sp>
        <p:nvSpPr>
          <p:cNvPr id="16" name="Shape 12"/>
          <p:cNvSpPr/>
          <p:nvPr/>
        </p:nvSpPr>
        <p:spPr>
          <a:xfrm>
            <a:off x="1005840" y="4434840"/>
            <a:ext cx="10104120" cy="1371600"/>
          </a:xfrm>
          <a:prstGeom prst="roundRect">
            <a:avLst>
              <a:gd name="adj" fmla="val 5333"/>
            </a:avLst>
          </a:prstGeom>
          <a:solidFill>
            <a:srgbClr val="F8FBFA"/>
          </a:solidFill>
          <a:ln w="12700">
            <a:solidFill>
              <a:srgbClr val="CFE3DD"/>
            </a:solidFill>
            <a:prstDash val="solid"/>
          </a:ln>
        </p:spPr>
      </p:sp>
      <p:sp>
        <p:nvSpPr>
          <p:cNvPr id="17" name="Shape 13"/>
          <p:cNvSpPr/>
          <p:nvPr/>
        </p:nvSpPr>
        <p:spPr>
          <a:xfrm>
            <a:off x="1005840" y="4434840"/>
            <a:ext cx="10104120" cy="329184"/>
          </a:xfrm>
          <a:prstGeom prst="rect">
            <a:avLst/>
          </a:prstGeom>
          <a:solidFill>
            <a:srgbClr val="8FD5C3"/>
          </a:solidFill>
          <a:ln w="12700">
            <a:solidFill>
              <a:srgbClr val="8FD5C3">
                <a:alpha val="0"/>
              </a:srgbClr>
            </a:solidFill>
            <a:prstDash val="solid"/>
          </a:ln>
        </p:spPr>
      </p:sp>
      <p:sp>
        <p:nvSpPr>
          <p:cNvPr id="18" name="Text 14"/>
          <p:cNvSpPr/>
          <p:nvPr/>
        </p:nvSpPr>
        <p:spPr>
          <a:xfrm>
            <a:off x="1170432" y="4507992"/>
            <a:ext cx="9774936" cy="164592"/>
          </a:xfrm>
          <a:prstGeom prst="rect">
            <a:avLst/>
          </a:prstGeom>
          <a:noFill/>
          <a:ln/>
        </p:spPr>
        <p:txBody>
          <a:bodyPr wrap="square" lIns="0" tIns="0" rIns="0" bIns="0" rtlCol="0" anchor="ctr"/>
          <a:lstStyle/>
          <a:p>
            <a:pPr indent="0" marL="0">
              <a:buNone/>
            </a:pPr>
            <a:r>
              <a:rPr lang="en-US" sz="1100" b="1" dirty="0">
                <a:solidFill>
                  <a:srgbClr val="2D2D2D"/>
                </a:solidFill>
              </a:rPr>
              <a:t>Suggested closing line</a:t>
            </a:r>
            <a:endParaRPr lang="en-US" sz="1100" dirty="0"/>
          </a:p>
        </p:txBody>
      </p:sp>
      <p:sp>
        <p:nvSpPr>
          <p:cNvPr id="19" name="Shape 15"/>
          <p:cNvSpPr/>
          <p:nvPr/>
        </p:nvSpPr>
        <p:spPr>
          <a:xfrm>
            <a:off x="1170432" y="4965192"/>
            <a:ext cx="73152" cy="73152"/>
          </a:xfrm>
          <a:prstGeom prst="ellipse">
            <a:avLst/>
          </a:prstGeom>
          <a:solidFill>
            <a:srgbClr val="8FD5C3"/>
          </a:solidFill>
          <a:ln w="12700">
            <a:solidFill>
              <a:srgbClr val="8FD5C3">
                <a:alpha val="0"/>
              </a:srgbClr>
            </a:solidFill>
            <a:prstDash val="solid"/>
          </a:ln>
        </p:spPr>
      </p:sp>
      <p:sp>
        <p:nvSpPr>
          <p:cNvPr id="20" name="Text 16"/>
          <p:cNvSpPr/>
          <p:nvPr/>
        </p:nvSpPr>
        <p:spPr>
          <a:xfrm>
            <a:off x="1298448" y="4910328"/>
            <a:ext cx="9665208" cy="420624"/>
          </a:xfrm>
          <a:prstGeom prst="rect">
            <a:avLst/>
          </a:prstGeom>
          <a:noFill/>
          <a:ln/>
        </p:spPr>
        <p:txBody>
          <a:bodyPr wrap="square" lIns="0" tIns="0" rIns="0" bIns="0" rtlCol="0" anchor="t"/>
          <a:lstStyle/>
          <a:p>
            <a:pPr indent="0" marL="0">
              <a:buNone/>
            </a:pPr>
            <a:r>
              <a:rPr lang="en-US" sz="920" dirty="0">
                <a:solidFill>
                  <a:srgbClr val="2D2D2D"/>
                </a:solidFill>
              </a:rPr>
              <a:t>The revised FG framework is scientifically cleaner, visually clearer, and much easier to explain in a paper or presentation.</a:t>
            </a:r>
            <a:endParaRPr lang="en-US" sz="920" dirty="0"/>
          </a:p>
        </p:txBody>
      </p:sp>
      <p:sp>
        <p:nvSpPr>
          <p:cNvPr id="21" name="Shape 17"/>
          <p:cNvSpPr/>
          <p:nvPr/>
        </p:nvSpPr>
        <p:spPr>
          <a:xfrm>
            <a:off x="1170432" y="5468112"/>
            <a:ext cx="73152" cy="73152"/>
          </a:xfrm>
          <a:prstGeom prst="ellipse">
            <a:avLst/>
          </a:prstGeom>
          <a:solidFill>
            <a:srgbClr val="8FD5C3"/>
          </a:solidFill>
          <a:ln w="12700">
            <a:solidFill>
              <a:srgbClr val="8FD5C3">
                <a:alpha val="0"/>
              </a:srgbClr>
            </a:solidFill>
            <a:prstDash val="solid"/>
          </a:ln>
        </p:spPr>
      </p:sp>
      <p:sp>
        <p:nvSpPr>
          <p:cNvPr id="22" name="Text 18"/>
          <p:cNvSpPr/>
          <p:nvPr/>
        </p:nvSpPr>
        <p:spPr>
          <a:xfrm>
            <a:off x="1298448" y="5413248"/>
            <a:ext cx="9665208" cy="420624"/>
          </a:xfrm>
          <a:prstGeom prst="rect">
            <a:avLst/>
          </a:prstGeom>
          <a:noFill/>
          <a:ln/>
        </p:spPr>
        <p:txBody>
          <a:bodyPr wrap="square" lIns="0" tIns="0" rIns="0" bIns="0" rtlCol="0" anchor="t"/>
          <a:lstStyle/>
          <a:p>
            <a:pPr indent="0" marL="0">
              <a:buNone/>
            </a:pPr>
            <a:r>
              <a:rPr lang="en-US" sz="920" dirty="0">
                <a:solidFill>
                  <a:srgbClr val="2D2D2D"/>
                </a:solidFill>
              </a:rPr>
              <a:t>A Bayesian brms version can now be used as a next-step robustness check on the same stable FG definition, rather than as a rescue for an unstable grouping scheme.</a:t>
            </a:r>
            <a:endParaRPr lang="en-US" sz="920" dirty="0"/>
          </a:p>
        </p:txBody>
      </p:sp>
      <p:sp>
        <p:nvSpPr>
          <p:cNvPr id="24" name="Text 19"/>
          <p:cNvSpPr/>
          <p:nvPr/>
        </p:nvSpPr>
        <p:spPr>
          <a:xfrm>
            <a:off x="11201400" y="6473952"/>
            <a:ext cx="502920" cy="164592"/>
          </a:xfrm>
          <a:prstGeom prst="rect">
            <a:avLst/>
          </a:prstGeom>
          <a:noFill/>
          <a:ln/>
        </p:spPr>
        <p:txBody>
          <a:bodyPr wrap="square" lIns="0" tIns="0" rIns="0" bIns="0" rtlCol="0" anchor="ctr"/>
          <a:lstStyle/>
          <a:p>
            <a:pPr algn="r" indent="0" marL="0">
              <a:buNone/>
            </a:pPr>
            <a:r>
              <a:rPr lang="en-US" sz="800" dirty="0">
                <a:solidFill>
                  <a:srgbClr val="7A7A7A"/>
                </a:solidFill>
              </a:rPr>
              <a:t>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PKU-IIASA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RQ3 Stable FG Scheme: code, figures, interpretation</dc:title>
  <dc:subject>Stable FG scheme summary</dc:subject>
  <dc:creator>OpenAI Codex</dc:creator>
  <cp:lastModifiedBy>OpenAI Codex</cp:lastModifiedBy>
  <cp:revision>1</cp:revision>
  <dcterms:created xsi:type="dcterms:W3CDTF">2026-03-23T18:45:53Z</dcterms:created>
  <dcterms:modified xsi:type="dcterms:W3CDTF">2026-03-23T18:45:53Z</dcterms:modified>
</cp:coreProperties>
</file>